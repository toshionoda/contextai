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088" y="1463040"/>
            <a:ext cx="7735824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eiryo"/>
              </a:rPr>
              <a:t>佐賀市 設計施工POC実証事業（ご提案）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2331720"/>
            <a:ext cx="7699248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500" b="0">
                <a:solidFill>
                  <a:srgbClr val="B0C4DE"/>
                </a:solidFill>
                <a:latin typeface="Meiryo"/>
              </a:rPr>
              <a:t>〜 落札企業の設計施工業務を起点に CiviLink で業務効率化を実証する 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2926080"/>
            <a:ext cx="2743200" cy="0"/>
          </a:xfrm>
          <a:prstGeom prst="line">
            <a:avLst/>
          </a:prstGeom>
          <a:ln w="9525">
            <a:solidFill>
              <a:srgbClr val="B0C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00400" y="3063240"/>
            <a:ext cx="27432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Meiryo"/>
              </a:rPr>
              <a:t>令和8年4月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383280"/>
            <a:ext cx="27432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Meiryo"/>
              </a:rPr>
              <a:t>株式会社マルメ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本POCの位置づけ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Meiryo"/>
              </a:rPr>
              <a:t>佐賀市が公募予定の投資提案事業を起点に、</a:t>
            </a:r>
            <a:r>
              <a:rPr sz="1100" b="1">
                <a:solidFill>
                  <a:srgbClr val="1B3A5C"/>
                </a:solidFill>
                <a:latin typeface="Meiryo"/>
              </a:rPr>
              <a:t>落札企業（地場建設会社）の設計施工業務</a:t>
            </a:r>
            <a:r>
              <a:rPr sz="1100" b="0">
                <a:solidFill>
                  <a:srgbClr val="333333"/>
                </a:solidFill>
                <a:latin typeface="Meiryo"/>
              </a:rPr>
              <a:t>に入る段階でCiviLinkを導入。</a:t>
            </a:r>
          </a:p>
          <a:p>
            <a:r>
              <a:rPr sz="1100" b="0">
                <a:solidFill>
                  <a:srgbClr val="333333"/>
                </a:solidFill>
                <a:latin typeface="Meiryo"/>
              </a:rPr>
              <a:t>実工事の中で「どれだけ業務が効率化されるか」を定量的に実証し、包括委託への足場とする。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5" y="1572768"/>
            <a:ext cx="1993392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5" y="1572768"/>
            <a:ext cx="1993392" cy="2560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5" y="1572768"/>
            <a:ext cx="199339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5" y="1892807"/>
            <a:ext cx="190195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B3A5C"/>
                </a:solidFill>
                <a:latin typeface="Meiryo"/>
              </a:rPr>
              <a:t>2026年5月〜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5" y="2395728"/>
            <a:ext cx="1901952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Meiryo"/>
              </a:rPr>
              <a:t>投資提案の公募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" y="2990088"/>
            <a:ext cx="1810512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佐賀市が地域建設業DX
普及促進事業を公募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572768"/>
            <a:ext cx="1993392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7168" y="1572768"/>
            <a:ext cx="1993392" cy="2560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572768"/>
            <a:ext cx="199339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892807"/>
            <a:ext cx="190195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B3A5C"/>
                </a:solidFill>
                <a:latin typeface="Meiryo"/>
              </a:rPr>
              <a:t>〜2026年8月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395728"/>
            <a:ext cx="1901952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Meiryo"/>
              </a:rPr>
              <a:t>3〜4ヶ月で落札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990088"/>
            <a:ext cx="1810512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地場建設会社
（Cランク相当）が受託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572768"/>
            <a:ext cx="1993392" cy="256032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572768"/>
            <a:ext cx="1993392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572768"/>
            <a:ext cx="199339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892807"/>
            <a:ext cx="190195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Meiryo"/>
              </a:rPr>
              <a:t>2026年9月〜
2027年3月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395728"/>
            <a:ext cx="1901952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Meiryo"/>
              </a:rPr>
              <a:t>★ 本POC実施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90088"/>
            <a:ext cx="1810512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設計施工業務にCiviLinkを
導入し効率化を実証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9712" y="1572768"/>
            <a:ext cx="1993392" cy="2560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39712" y="1572768"/>
            <a:ext cx="1993392" cy="2560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1572768"/>
            <a:ext cx="199339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1892807"/>
            <a:ext cx="190195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B3A5C"/>
                </a:solidFill>
                <a:latin typeface="Meiryo"/>
              </a:rPr>
              <a:t>2027年4月〜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2395728"/>
            <a:ext cx="1901952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B3A5C"/>
                </a:solidFill>
                <a:latin typeface="Meiryo"/>
              </a:rPr>
              <a:t>包括委託へ接続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990088"/>
            <a:ext cx="1810512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実証成果を本委託の
DX標準仕様に反映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2670048"/>
            <a:ext cx="182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B3A5C"/>
                </a:solidFill>
                <a:latin typeface="Meiryo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670048"/>
            <a:ext cx="182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B3A5C"/>
                </a:solidFill>
                <a:latin typeface="Meiryo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2670048"/>
            <a:ext cx="182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B3A5C"/>
                </a:solidFill>
                <a:latin typeface="Meiryo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343400"/>
            <a:ext cx="8385048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89120"/>
            <a:ext cx="81381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POC実施のねらい： </a:t>
            </a:r>
            <a:r>
              <a:rPr sz="1100" b="0">
                <a:solidFill>
                  <a:srgbClr val="333333"/>
                </a:solidFill>
                <a:latin typeface="Meiryo"/>
              </a:rPr>
              <a:t>「実際に発注する工事」で効果を測定し、包括委託のDX標準を佐賀市発で確立する。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POCの目的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Meiryo"/>
              </a:rPr>
              <a:t>設計施工フェーズに CiviLink を導入することで、3つの価値を同時に実証する。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188720"/>
            <a:ext cx="2743200" cy="320040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118872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325880"/>
            <a:ext cx="252374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Meiryo"/>
              </a:rPr>
              <a:t>① 落札企業の働き方改革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645920"/>
            <a:ext cx="2523744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地場建設会社（Cランク）の
設計施工業務を効率化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423160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紙・FAX・押印待ちの解消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990088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書類作成工数の削減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3557016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少人数でも工事を回せる体制の構築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325880"/>
            <a:ext cx="252374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Meiryo"/>
              </a:rPr>
              <a:t>② 市側監督業務の効率化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645920"/>
            <a:ext cx="2523744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佐賀市の発注者監督業務の
負担を軽減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423160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照査・承認のリードタイム短縮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990088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指摘履歴・判断ログのデジタル蓄積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557016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電子納品の形式エラー削減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188720"/>
            <a:ext cx="2743200" cy="320040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62472" y="118872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25880"/>
            <a:ext cx="252374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Meiryo"/>
              </a:rPr>
              <a:t>③ 3者連携モデルの実地検証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45920"/>
            <a:ext cx="2523744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自治体×補修設計×建設の
一気通貫運用を検証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23160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同一図面を軸にしたデータ連携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90088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包括委託の標準仕様化に向けた知見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557016"/>
            <a:ext cx="2523744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他地場企業・他工事への横展開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572000"/>
            <a:ext cx="8385048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2000"/>
            <a:ext cx="81381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Meiryo"/>
              </a:rPr>
              <a:t>得られた効果・知見は、佐賀市×伊藤忠の包括委託（2027年度〜）のDX標準仕様に直結する。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実証対象・前提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418795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1B3A5C"/>
                </a:solidFill>
                <a:latin typeface="Meiryo"/>
              </a:rPr>
              <a:t>実証対象サマリ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97280"/>
            <a:ext cx="4105656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発注者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9728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佐賀市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41056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落札企業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4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Cランク相当 地場建設会社（1〜2社）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28800"/>
            <a:ext cx="4105656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82880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補修設計会社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2880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既存の契約設計会社（市側で選定）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194560"/>
            <a:ext cx="41056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19456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対象工事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9456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佐賀市発注の補修工事（橋梁・道路等）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560320"/>
            <a:ext cx="4105656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56032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実証期間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56032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2026年9月〜2027年3月（約7ヶ月）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926080"/>
            <a:ext cx="4105656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92608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活用ツール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92608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CiviLink + DXパッケージ（写真AI・AI点検）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291840"/>
            <a:ext cx="4105656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291840"/>
            <a:ext cx="11887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実証費用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291840"/>
            <a:ext cx="274320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落札工事費に加算せず、マルメ＋市で別途検討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749808"/>
            <a:ext cx="418795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1B3A5C"/>
                </a:solidFill>
                <a:latin typeface="Meiryo"/>
              </a:rPr>
              <a:t>対象企業（Cランク相当）の想定プロフィール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4105656" cy="3474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1234440"/>
            <a:ext cx="3931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Meiryo"/>
              </a:rPr>
              <a:t>従業員規模</a:t>
            </a:r>
          </a:p>
          <a:p>
            <a:r>
              <a:rPr sz="1000" b="0">
                <a:solidFill>
                  <a:srgbClr val="333333"/>
                </a:solidFill>
                <a:latin typeface="Meiryo"/>
              </a:rPr>
              <a:t>技術者5〜20名程度の地場建設会社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892808"/>
            <a:ext cx="3931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Meiryo"/>
              </a:rPr>
              <a:t>受注工事</a:t>
            </a:r>
          </a:p>
          <a:p>
            <a:r>
              <a:rPr sz="1000" b="0">
                <a:solidFill>
                  <a:srgbClr val="333333"/>
                </a:solidFill>
                <a:latin typeface="Meiryo"/>
              </a:rPr>
              <a:t>佐賀市発注の補修・維持工事が中心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51176"/>
            <a:ext cx="3931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Meiryo"/>
              </a:rPr>
              <a:t>DX状況</a:t>
            </a:r>
          </a:p>
          <a:p>
            <a:r>
              <a:rPr sz="1000" b="0">
                <a:solidFill>
                  <a:srgbClr val="333333"/>
                </a:solidFill>
                <a:latin typeface="Meiryo"/>
              </a:rPr>
              <a:t>CAD・Excelが中心。クラウド運用は限定的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209544"/>
            <a:ext cx="3931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Meiryo"/>
              </a:rPr>
              <a:t>課題</a:t>
            </a:r>
          </a:p>
          <a:p>
            <a:r>
              <a:rPr sz="1000" b="0">
                <a:solidFill>
                  <a:srgbClr val="333333"/>
                </a:solidFill>
                <a:latin typeface="Meiryo"/>
              </a:rPr>
              <a:t>書類作成の属人化、若手確保、2024年問題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867911"/>
            <a:ext cx="3931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Meiryo"/>
              </a:rPr>
              <a:t>DX適性</a:t>
            </a:r>
          </a:p>
          <a:p>
            <a:r>
              <a:rPr sz="1000" b="0">
                <a:solidFill>
                  <a:srgbClr val="333333"/>
                </a:solidFill>
                <a:latin typeface="Meiryo"/>
              </a:rPr>
              <a:t>補助金・NETIS加点に関心あり。伴走支援を求める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663440"/>
            <a:ext cx="8385048" cy="32004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※ 対象工事・対象企業は佐賀市と協議の上で選定。補修設計会社の参画も含めた3者連携で実施する。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現状の設計施工業務の課題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50" b="0">
                <a:solidFill>
                  <a:srgbClr val="333333"/>
                </a:solidFill>
                <a:latin typeface="Meiryo"/>
              </a:rPr>
              <a:t>地場建設会社の設計施工業務では、各フェーズで紙・メール・対面中心の運用が残り、手戻りと属人化を招いている。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7" y="1097280"/>
            <a:ext cx="2770632" cy="3474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467" y="1097280"/>
            <a:ext cx="2770632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" y="1097280"/>
            <a:ext cx="277063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① 設計・照査フェーズ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" y="1600200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紙図面・PDFメール送付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版管理が追えず最新版が分からない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" y="2587752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数量拾いの手計算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図面⇔数量計算書の不整合が発生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" y="3575304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照査指摘が紙・メール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指摘履歴が残らず同じ手戻りを繰り返す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6683" y="1097280"/>
            <a:ext cx="2770632" cy="3474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6683" y="1097280"/>
            <a:ext cx="2770632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6683" y="1097280"/>
            <a:ext cx="277063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② 施工フェーズ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6411" y="1600200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打合簿が紙・押印運用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監督員との承認に数日〜1週間かかる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6411" y="2587752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写真整理・台帳作成が手作業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現場1工事で数日の事務工数が発生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6411" y="3575304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段階確認の連絡が電話・FAX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記録が残らず監督履歴が不透明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7899" y="1097280"/>
            <a:ext cx="2770632" cy="3474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7899" y="1097280"/>
            <a:ext cx="2770632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7899" y="1097280"/>
            <a:ext cx="277063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③ 検査・電子納品フェーズ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7627" y="1600200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納品フォルダを手作業で構成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形式エラーで差戻しが多発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7627" y="2587752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成果物が各社バラバラの構成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市側のチェック負担が大きい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7627" y="3575304"/>
            <a:ext cx="2551176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1000" b="1">
                <a:solidFill>
                  <a:srgbClr val="1B3A5C"/>
                </a:solidFill>
                <a:latin typeface="Meiryo"/>
              </a:rPr>
              <a:t>● 過去成果物の横断参照が困難</a:t>
            </a:r>
          </a:p>
          <a:p>
            <a:r>
              <a:rPr sz="900" b="0">
                <a:solidFill>
                  <a:srgbClr val="333333"/>
                </a:solidFill>
                <a:latin typeface="Meiryo"/>
              </a:rPr>
              <a:t>    → 類似工事の知見が再利用されない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663440"/>
            <a:ext cx="8385048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Meiryo"/>
              </a:rPr>
              <a:t>各フェーズの「紙・対面・属人化」をCiviLinkで「クラウド・ワークフロー・標準化」に置き換える。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CiviLink導入による業務フローの変化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804672"/>
            <a:ext cx="12801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C62828"/>
                </a:solidFill>
                <a:latin typeface="Meiryo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04672"/>
            <a:ext cx="5486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紙・メール・押印・手作業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3" y="1115568"/>
            <a:ext cx="1609344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3" y="1115568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図面・設計図書の受領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" y="1435607"/>
            <a:ext cx="1609344" cy="96011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48255" y="1115568"/>
            <a:ext cx="1609344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8255" y="1115568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設計・照査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5" y="1435607"/>
            <a:ext cx="1609344" cy="96011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7" y="1115568"/>
            <a:ext cx="1609344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7" y="1115568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施工準備・着工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7" y="1435607"/>
            <a:ext cx="1609344" cy="96011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399" y="1115568"/>
            <a:ext cx="1609344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399" y="1115568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施工・段階確認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399" y="1435607"/>
            <a:ext cx="1609344" cy="96011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5471" y="1115568"/>
            <a:ext cx="1609344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1" y="1115568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検査・電子納品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1" y="1435607"/>
            <a:ext cx="1609344" cy="960119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" y="1481328"/>
            <a:ext cx="1463040" cy="8961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紙図面・PDFメール
版管理なし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7" y="1481328"/>
            <a:ext cx="1463040" cy="8961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個人PCで照査
指摘は紙・口頭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1481328"/>
            <a:ext cx="1463040" cy="8961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施工計画書
ゼロから作成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1" y="1481328"/>
            <a:ext cx="1463040" cy="8961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打合簿・写真
紙・手作業整理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3" y="1481328"/>
            <a:ext cx="1463040" cy="8961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納品フォルダ
手作業構成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468880"/>
            <a:ext cx="8385048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eiryo"/>
              </a:rPr>
              <a:t>▼  CiviLink 導入  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2880360"/>
            <a:ext cx="12801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Meiryo"/>
              </a:rPr>
              <a:t>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880360"/>
            <a:ext cx="5486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Meiryo"/>
              </a:rPr>
              <a:t>クラウド・ワークフロー・AI支援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3" y="3182112"/>
            <a:ext cx="1609344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" y="3182112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図面・設計図書の受領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" y="3502152"/>
            <a:ext cx="1609344" cy="10972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48255" y="3182112"/>
            <a:ext cx="1609344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8255" y="3182112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設計・照査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48255" y="3502152"/>
            <a:ext cx="1609344" cy="10972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67327" y="3182112"/>
            <a:ext cx="1609344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7" y="3182112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施工準備・着工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67327" y="3502152"/>
            <a:ext cx="1609344" cy="10972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399" y="3182112"/>
            <a:ext cx="1609344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399" y="3182112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施工・段階確認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399" y="3502152"/>
            <a:ext cx="1609344" cy="10972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05471" y="3182112"/>
            <a:ext cx="1609344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5471" y="3182112"/>
            <a:ext cx="1609344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</a:rPr>
              <a:t>検査・電子納品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1" y="3502152"/>
            <a:ext cx="1609344" cy="10972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5" y="3547872"/>
            <a:ext cx="1463040" cy="10332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クラウド図面
版管理・共有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1407" y="3547872"/>
            <a:ext cx="1463040" cy="10332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デジタル照査
指摘管理＋AI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79" y="3547872"/>
            <a:ext cx="1463040" cy="10332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施工計画AIで
初稿30分生成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1" y="3547872"/>
            <a:ext cx="1463040" cy="10332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打合簿クラウド
承認WF/写真AI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3" y="3547872"/>
            <a:ext cx="1463040" cy="10332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Meiryo"/>
              </a:rPr>
              <a:t>電子納品を
自動構成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709160"/>
            <a:ext cx="8385048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50" b="1">
                <a:solidFill>
                  <a:srgbClr val="1B3A5C"/>
                </a:solidFill>
                <a:latin typeface="Meiryo"/>
              </a:rPr>
              <a:t>各フェーズの情報が同一のCiviLink上に蓄積され、受発注者間の「探す・待つ・作り直す」がなくなる。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設計フェーズの実証内容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50" b="0">
                <a:solidFill>
                  <a:srgbClr val="333333"/>
                </a:solidFill>
                <a:latin typeface="Meiryo"/>
              </a:rPr>
              <a:t>補修設計成果物の受領〜照査〜施工への受渡しまでを、クラウド上で完結させる。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7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467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① 図面・設計図書のクラウド共有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活用機能：CiviLink図面管理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補修設計会社 → 建設会社 → 市への三者共有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常に最新版が全員に可視化（版管理）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スマホ・タブレットから現場で閲覧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59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図面受渡しメール往復の削減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6683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6683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6683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② デジタル照査・指摘管理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6411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6411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活用機能：CiviLink指摘管理WF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3843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図面上に直接コメント・指摘を記録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3843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指摘→回答→確認の履歴が残る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3843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過去工事の指摘パターンを横断検索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6411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1275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照査時間短縮／品質ばらつき解消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7899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7899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7899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③ 図面⇔数量の整合チェック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7627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7627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 AI照査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5059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図面と数量計算書の不整合をAIが検出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5059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桁違い・単位ミスを自動ハイライト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5059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補修設計会社の自己照査にも活用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7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2491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積算ミス／手戻りの削減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754880"/>
            <a:ext cx="8385048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※ 検証では工数・リードタイム・指摘件数を導入前後で比較し、定量効果を測定する。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施工フェーズの実証内容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50" b="0">
                <a:solidFill>
                  <a:srgbClr val="333333"/>
                </a:solidFill>
                <a:latin typeface="Meiryo"/>
              </a:rPr>
              <a:t>着工〜段階確認〜検査〜電子納品までを、打合簿・写真・承認のクラウド化で効率化する。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7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467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① 打合簿・承認ワークフロー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活用機能：CiviLink承認WF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施工計画書・変更協議をクラウド提出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監督員の承認・差戻しを即時化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承認履歴・判断ログが自動蓄積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59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承認リードタイム ▲70%目標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6683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6683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6683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② 出来形・写真台帳の自動化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6411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6411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 × 写真AI連携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3843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現場写真を黒板AI-OCRで自動分類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3843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出来形測定値を現場からクラウド入力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3843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写真台帳が自動生成（手作業排除）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6411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1275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台帳作成工数 ▲90%目標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7899" y="1097280"/>
            <a:ext cx="2770632" cy="356616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7899" y="1097280"/>
            <a:ext cx="2770632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7899" y="1097280"/>
            <a:ext cx="2770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③ 電子納品の自動構成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7627" y="1600200"/>
            <a:ext cx="255117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7627" y="1600200"/>
            <a:ext cx="2551176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B3A5C"/>
                </a:solidFill>
                <a:latin typeface="Meiryo"/>
              </a:rPr>
              <a:t>活用機能：CiviLink電子納品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5059" y="2011680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日々の書類・写真から納品フォルダを自動構成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5059" y="2633472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国交省基準への適合性を自動チェック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5059" y="3255264"/>
            <a:ext cx="2496312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Meiryo"/>
              </a:rPr>
              <a:t>● </a:t>
            </a:r>
            <a:r>
              <a:rPr sz="950" b="0">
                <a:solidFill>
                  <a:srgbClr val="333333"/>
                </a:solidFill>
                <a:latin typeface="Meiryo"/>
              </a:rPr>
              <a:t>市側の差戻し発生ゼロを目標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7" y="4023359"/>
            <a:ext cx="2551176" cy="5303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2491" y="4023359"/>
            <a:ext cx="2441448" cy="53035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850" b="1">
                <a:solidFill>
                  <a:srgbClr val="B0C4DE"/>
                </a:solidFill>
                <a:latin typeface="Meiryo"/>
              </a:rPr>
              <a:t>検証する効果</a:t>
            </a:r>
          </a:p>
          <a:p>
            <a:r>
              <a:rPr sz="950" b="1">
                <a:solidFill>
                  <a:srgbClr val="FFFFFF"/>
                </a:solidFill>
                <a:latin typeface="Meiryo"/>
              </a:rPr>
              <a:t>納品差戻し件数 ゼロ目標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754880"/>
            <a:ext cx="8385048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※ 各KPIは実工事の業務データから測定。測定結果は市・建設会社・マルメで共有する。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期待効果（KPI）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838504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050" b="0">
                <a:solidFill>
                  <a:srgbClr val="333333"/>
                </a:solidFill>
                <a:latin typeface="Meiryo"/>
              </a:rPr>
              <a:t>設計・施工の各業務で、定量的な効果目標を設定して検証する。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97280"/>
            <a:ext cx="86868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86868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フェーズ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2728" y="1097280"/>
            <a:ext cx="1874519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097280"/>
            <a:ext cx="1874519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業務領域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1097280"/>
            <a:ext cx="201168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097280"/>
            <a:ext cx="201168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8928" y="1097280"/>
            <a:ext cx="20574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097280"/>
            <a:ext cx="20574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目標値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6328" y="1097280"/>
            <a:ext cx="1572768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1097280"/>
            <a:ext cx="1572768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測定方法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481328"/>
            <a:ext cx="868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81328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2728" y="1481328"/>
            <a:ext cx="1874519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1481328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図面⇔数量整合チェック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1481328"/>
            <a:ext cx="2011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1481328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手作業・属人対応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8" y="1481328"/>
            <a:ext cx="205740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481328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AI自動検出で照査工数▲50%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96328" y="1481328"/>
            <a:ext cx="1572768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481328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照査時間の工数記録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1828800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1828800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設計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52728" y="1828800"/>
            <a:ext cx="1874519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1828800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照査指摘のやり取り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7248" y="1828800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1828800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紙・メール往復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1828800"/>
            <a:ext cx="2057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1828800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平均回答時間 ▲60%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96328" y="1828800"/>
            <a:ext cx="157276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1828800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指摘ログのタイムスタンプ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176272"/>
            <a:ext cx="868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176272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施工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52728" y="2176272"/>
            <a:ext cx="1874519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2176272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打合簿・承認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2176272"/>
            <a:ext cx="2011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2176272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押印・対面で3〜7日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38928" y="2176272"/>
            <a:ext cx="205740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2176272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承認リードタイム ▲70%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96328" y="2176272"/>
            <a:ext cx="1572768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2176272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承認履歴の日数集計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2523744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2523744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施工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52728" y="2523744"/>
            <a:ext cx="1874519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25880" y="2523744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写真台帳・出来形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27248" y="2523744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2523744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1工事あたり数日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8928" y="2523744"/>
            <a:ext cx="2057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2523744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台帳作成工数 ▲90%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6328" y="2523744"/>
            <a:ext cx="157276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2523744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作業工数の前後比較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2871215"/>
            <a:ext cx="868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2871215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施工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52728" y="2871215"/>
            <a:ext cx="1874519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25880" y="2871215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段階確認の記録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27248" y="2871215"/>
            <a:ext cx="201168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0" y="2871215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電話・FAX中心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8928" y="2871215"/>
            <a:ext cx="2057400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12080" y="2871215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デジタル化率 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96328" y="2871215"/>
            <a:ext cx="1572768" cy="34747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2871215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記録媒体の内訳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3218687"/>
            <a:ext cx="868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3218687"/>
            <a:ext cx="86868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2E7D32"/>
                </a:solidFill>
                <a:latin typeface="Meiryo"/>
              </a:rPr>
              <a:t>納品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52728" y="3218687"/>
            <a:ext cx="1874519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25880" y="3218687"/>
            <a:ext cx="172821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電子納品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27248" y="3218687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3218687"/>
            <a:ext cx="1865376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形式エラー差戻し多発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38928" y="3218687"/>
            <a:ext cx="2057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2080" y="3218687"/>
            <a:ext cx="1911095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1">
                <a:solidFill>
                  <a:srgbClr val="1B3A5C"/>
                </a:solidFill>
                <a:latin typeface="Meiryo"/>
              </a:rPr>
              <a:t>差戻し件数 ゼロ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96328" y="3218687"/>
            <a:ext cx="157276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9480" y="3218687"/>
            <a:ext cx="1426464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市側検査結果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4572000"/>
            <a:ext cx="8385048" cy="411480"/>
          </a:xfrm>
          <a:prstGeom prst="rect">
            <a:avLst/>
          </a:prstGeom>
          <a:solidFill>
            <a:srgbClr val="EF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572000"/>
            <a:ext cx="81381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Meiryo"/>
              </a:rPr>
              <a:t>POC成果の活用： </a:t>
            </a:r>
            <a:r>
              <a:rPr sz="1050" b="0">
                <a:solidFill>
                  <a:srgbClr val="333333"/>
                </a:solidFill>
                <a:latin typeface="Meiryo"/>
              </a:rPr>
              <a:t>実測値をもとに、包括委託でのDX標準仕様・費用効果指標を策定する。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55448"/>
            <a:ext cx="8229600" cy="42976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Meiryo"/>
              </a:rPr>
              <a:t>実施体制・スケジュール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58368"/>
            <a:ext cx="9144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4048" y="749808"/>
            <a:ext cx="418795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1B3A5C"/>
                </a:solidFill>
                <a:latin typeface="Meiryo"/>
              </a:rPr>
              <a:t>役割分担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97280"/>
            <a:ext cx="4105656" cy="7132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097280"/>
            <a:ext cx="91440" cy="7132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146304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1B3A5C"/>
                </a:solidFill>
                <a:latin typeface="Meiryo"/>
              </a:rPr>
              <a:t>佐賀市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097280"/>
            <a:ext cx="233172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対象工事選定／監督員参加／成果評価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83664"/>
            <a:ext cx="4105656" cy="7132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883664"/>
            <a:ext cx="91440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83664"/>
            <a:ext cx="146304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Meiryo"/>
              </a:rPr>
              <a:t>落札企業
（Cランク地場建設）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83664"/>
            <a:ext cx="233172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CiviLink利用／業務データ提供／
効果測定への協力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670048"/>
            <a:ext cx="4105656" cy="7132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670048"/>
            <a:ext cx="91440" cy="7132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70048"/>
            <a:ext cx="146304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1B3A5C"/>
                </a:solidFill>
                <a:latin typeface="Meiryo"/>
              </a:rPr>
              <a:t>補修設計会社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70048"/>
            <a:ext cx="233172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設計成果物の提供／3者連携運用への参画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456432"/>
            <a:ext cx="4105656" cy="71323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456432"/>
            <a:ext cx="91440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56432"/>
            <a:ext cx="146304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Meiryo"/>
              </a:rPr>
              <a:t>マルメ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456432"/>
            <a:ext cx="2331720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950" b="0">
                <a:solidFill>
                  <a:srgbClr val="333333"/>
                </a:solidFill>
                <a:latin typeface="Meiryo"/>
              </a:rPr>
              <a:t>CiviLink提供／導入支援／効果測定／
伴走コンサルティング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749808"/>
            <a:ext cx="418795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200" b="1">
                <a:solidFill>
                  <a:srgbClr val="1B3A5C"/>
                </a:solidFill>
                <a:latin typeface="Meiryo"/>
              </a:rPr>
              <a:t>実施スケジュール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097280"/>
            <a:ext cx="4105656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097280"/>
            <a:ext cx="9144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143000"/>
            <a:ext cx="38404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50" b="1">
                <a:solidFill>
                  <a:srgbClr val="2E7D32"/>
                </a:solidFill>
                <a:latin typeface="Meiryo"/>
              </a:rPr>
              <a:t>2026年9〜10月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335024"/>
            <a:ext cx="38404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準備フェーズ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1609344"/>
            <a:ext cx="38404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対象工事・対象企業の選定／CiviLink環境構築／キックオフ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984248"/>
            <a:ext cx="4105656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984248"/>
            <a:ext cx="9144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029967"/>
            <a:ext cx="38404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50" b="1">
                <a:solidFill>
                  <a:srgbClr val="2E7D32"/>
                </a:solidFill>
                <a:latin typeface="Meiryo"/>
              </a:rPr>
              <a:t>2026年10〜12月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221991"/>
            <a:ext cx="38404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設計フェーズ実証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496312"/>
            <a:ext cx="38404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図面共有・デジタル照査・数量整合チェックの運用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871215"/>
            <a:ext cx="4105656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2871215"/>
            <a:ext cx="9144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2916935"/>
            <a:ext cx="38404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50" b="1">
                <a:solidFill>
                  <a:srgbClr val="2E7D32"/>
                </a:solidFill>
                <a:latin typeface="Meiryo"/>
              </a:rPr>
              <a:t>2027年1〜3月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108959"/>
            <a:ext cx="38404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施工フェーズ実証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3383279"/>
            <a:ext cx="38404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打合簿・承認WF・写真台帳自動化・電子納品の運用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758183"/>
            <a:ext cx="4105656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3758183"/>
            <a:ext cx="9144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3803903"/>
            <a:ext cx="38404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50" b="1">
                <a:solidFill>
                  <a:srgbClr val="2E7D32"/>
                </a:solidFill>
                <a:latin typeface="Meiryo"/>
              </a:rPr>
              <a:t>2027年3月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3995927"/>
            <a:ext cx="38404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1100" b="1">
                <a:solidFill>
                  <a:srgbClr val="1B3A5C"/>
                </a:solidFill>
                <a:latin typeface="Meiryo"/>
              </a:rPr>
              <a:t>効果測定・報告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4270248"/>
            <a:ext cx="38404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Meiryo"/>
              </a:rPr>
              <a:t>KPI集計／成果報告／包括委託への反映事項整理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4663440"/>
            <a:ext cx="8385048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Meiryo"/>
              </a:rPr>
              <a:t>まずは対象工事の選定と体制構築から着手。マルメが伴走し、落札企業の負担を最小化する。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