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561" y="1578025"/>
            <a:ext cx="7736878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 地域建設業DX普及促進事業（案）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20868" y="2309515"/>
            <a:ext cx="77021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3000"/>
              </a:spcAft>
              <a:buNone/>
            </a:pPr>
            <a:r>
              <a:rPr lang="en-US" sz="1600" dirty="0">
                <a:solidFill>
                  <a:srgbClr val="B0C4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地場建設会社のICT活用を支援し、インフラ維持管理の持続可能性を確保する 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8422" y="2974925"/>
            <a:ext cx="18470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 デジタル推進課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08540" y="3308300"/>
            <a:ext cx="9269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227965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事業の背景と目的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838051"/>
            <a:ext cx="2692301" cy="1326505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852339"/>
            <a:ext cx="2692301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950" y="968127"/>
            <a:ext cx="24871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国の政策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276052"/>
            <a:ext cx="2487168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i-Construction 2.0により令和8年度から舗装工・地盤改良工でICT施工が原則化。電子納品の対応範囲も拡大し、対応できない企業は公共工事の受注機会を失う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25701" y="838051"/>
            <a:ext cx="2692450" cy="1326505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701" y="852339"/>
            <a:ext cx="269245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2651" y="968127"/>
            <a:ext cx="24873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業界構造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2651" y="1276052"/>
            <a:ext cx="2487320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建設業就業者の37%が55歳以上、29歳以下は12%に留まる。2035年には技術者約3.2万人が不足し、地場建設会社の技術基盤が揺らぐ恐れがある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70550" y="838051"/>
            <a:ext cx="2692450" cy="1326505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70550" y="852339"/>
            <a:ext cx="269245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7501" y="968127"/>
            <a:ext cx="24873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制度環境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7501" y="1276052"/>
            <a:ext cx="2487320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令和6年4月から建設業にも時間外労働の上限規制が適用された。書類作成・写真整理等のアナログ業務が残業の温床となり、DX化が経営の最優先課題となる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" y="2316956"/>
            <a:ext cx="8382000" cy="1019026"/>
          </a:xfrm>
          <a:prstGeom prst="roundRect">
            <a:avLst>
              <a:gd name="adj" fmla="val 4985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2316956"/>
            <a:ext cx="0" cy="1019026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2443907"/>
            <a:ext cx="81482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6801" y="2751832"/>
            <a:ext cx="8148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佐賀市の公共工事を担う地場建設会社に対し、ICT・AIツールの導入支援と図面データ基盤の整備を行い、インフラ維持管理体制の持続可能性を確保する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4195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地場建設会社の現状と課題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787301"/>
            <a:ext cx="41711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現状の業務フロー（橋梁補修工事の例）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1073051"/>
            <a:ext cx="4089350" cy="19669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設計図面をメールで受領、社内サーバーに保管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施工計画書をExcel/Wordで作成（過去書類をコピー＆修正、1〜2週間）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工事写真を数千枚撮影→PCに手動転送→フォルダで手動仕分け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打合簿をメール添付で往復→修正のたびにバージョンが増殖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段階確認は日程調整に時間がかかり、自治体担当者の現場立会を待つ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完成図書・電子納品を工事完了後にまとめて作成→形式エラー・抜け漏れ多発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787301"/>
            <a:ext cx="41712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構造的な課題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73501" y="1073051"/>
            <a:ext cx="4089499" cy="697706"/>
          </a:xfrm>
          <a:prstGeom prst="roundRect">
            <a:avLst>
              <a:gd name="adj" fmla="val 364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7788" y="1073051"/>
            <a:ext cx="0" cy="697706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3577" y="1149251"/>
            <a:ext cx="3935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書類が散在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3577" y="1374577"/>
            <a:ext cx="39350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図面・写真・帳票がPC・サーバー・メールに分散。「最新版はどれか」が日常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73501" y="1846957"/>
            <a:ext cx="4089499" cy="537716"/>
          </a:xfrm>
          <a:prstGeom prst="roundRect">
            <a:avLst>
              <a:gd name="adj" fmla="val 472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7788" y="1846957"/>
            <a:ext cx="0" cy="537716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3577" y="1923157"/>
            <a:ext cx="3935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やり取りが非効率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3577" y="2148483"/>
            <a:ext cx="39350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メール添付のバージョン管理ができず、承認に数日〜数週間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73501" y="2460873"/>
            <a:ext cx="4089499" cy="537716"/>
          </a:xfrm>
          <a:prstGeom prst="roundRect">
            <a:avLst>
              <a:gd name="adj" fmla="val 472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7788" y="2460873"/>
            <a:ext cx="0" cy="537716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3577" y="2537073"/>
            <a:ext cx="3935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データが流れない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3577" y="2762399"/>
            <a:ext cx="39350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点検→設計→施工で毎フェーズ再入力・転記が発生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3074789"/>
            <a:ext cx="4089499" cy="537716"/>
          </a:xfrm>
          <a:prstGeom prst="roundRect">
            <a:avLst>
              <a:gd name="adj" fmla="val 472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7788" y="3074789"/>
            <a:ext cx="0" cy="537716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3577" y="3150989"/>
            <a:ext cx="3935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何から始めればいいか分からない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3577" y="3376315"/>
            <a:ext cx="39350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DXツールは多数あるが、自社に合うものを選ぶ知見がない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13461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何もしないとどうなるか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787301"/>
            <a:ext cx="8382000" cy="666452"/>
          </a:xfrm>
          <a:prstGeom prst="roundRect">
            <a:avLst>
              <a:gd name="adj" fmla="val 76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787301"/>
            <a:ext cx="0" cy="666452"/>
          </a:xfrm>
          <a:prstGeom prst="line">
            <a:avLst/>
          </a:prstGeom>
          <a:noFill/>
          <a:ln w="28575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276" y="888802"/>
            <a:ext cx="8157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リスク① 地場建設会社がICT施工に対応できない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7276" y="1174552"/>
            <a:ext cx="815798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令和8年度からICT施工原則化→対応できない企業は入札参加が困難に→佐賀市の公共工事に参加できる地場企業が減少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3727" y="1479054"/>
            <a:ext cx="2563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000" y="1758404"/>
            <a:ext cx="8382000" cy="666452"/>
          </a:xfrm>
          <a:prstGeom prst="roundRect">
            <a:avLst>
              <a:gd name="adj" fmla="val 76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4813" y="1758404"/>
            <a:ext cx="0" cy="666452"/>
          </a:xfrm>
          <a:prstGeom prst="line">
            <a:avLst/>
          </a:prstGeom>
          <a:noFill/>
          <a:ln w="47625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326" y="1859905"/>
            <a:ext cx="81385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リスク② インフラ維持管理の担い手が不足する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6326" y="2145655"/>
            <a:ext cx="813855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橋梁2,842橋の点検、900橋の自前点検、道路パトロール、補修工事…これらを担う企業が減れば、維持管理サイクルが回らなくなる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43727" y="2450157"/>
            <a:ext cx="2563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1000" y="2729508"/>
            <a:ext cx="8382000" cy="666452"/>
          </a:xfrm>
          <a:prstGeom prst="roundRect">
            <a:avLst>
              <a:gd name="adj" fmla="val 76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9100" y="2729508"/>
            <a:ext cx="0" cy="666452"/>
          </a:xfrm>
          <a:prstGeom prst="line">
            <a:avLst/>
          </a:prstGeom>
          <a:noFill/>
          <a:ln w="762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901" y="2831009"/>
            <a:ext cx="81094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リスク③ 市民生活の安全に影響する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901" y="3116759"/>
            <a:ext cx="810940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点検の遅延→損傷の見落とし→補修の後手。長寿命化計画（50年で70億円のコスト縮減）の前提が崩れる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3497461"/>
            <a:ext cx="8382000" cy="312390"/>
          </a:xfrm>
          <a:prstGeom prst="roundRect">
            <a:avLst>
              <a:gd name="adj" fmla="val 1626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3497461"/>
            <a:ext cx="0" cy="312390"/>
          </a:xfrm>
          <a:prstGeom prst="line">
            <a:avLst/>
          </a:prstGeom>
          <a:noFill/>
          <a:ln w="381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" y="3573661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全国の市区町村の約4割が技術系職員5名以下。ベテラン退職により「判断できる人」が減少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11399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812750"/>
            <a:ext cx="2692301" cy="3810446"/>
          </a:xfrm>
          <a:prstGeom prst="roundRect">
            <a:avLst>
              <a:gd name="adj" fmla="val 18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827038"/>
            <a:ext cx="2692301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950" y="968276"/>
            <a:ext cx="24871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DXツール導入支援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301651"/>
            <a:ext cx="2487168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国交省カタログ掲載のAI点検技術、クラウド施工管理、電子黒板、写真台帳AI等を地場建設会社にパッケージ導入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936105"/>
            <a:ext cx="248716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補助金申請も支援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4261396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6311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地場建設会社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25701" y="812750"/>
            <a:ext cx="2692450" cy="3810446"/>
          </a:xfrm>
          <a:prstGeom prst="roundRect">
            <a:avLst>
              <a:gd name="adj" fmla="val 18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25701" y="827038"/>
            <a:ext cx="269245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651" y="968276"/>
            <a:ext cx="24873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図面データ基盤の整備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2651" y="1301651"/>
            <a:ext cx="248732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自治体⇔設計会社⇔建設会社の3者が同じ図面上でデータをやり取りするクラウド基盤を構築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2651" y="1936105"/>
            <a:ext cx="248732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承認・照査・段階確認をデジタル化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2651" y="4261396"/>
            <a:ext cx="2487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6311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自治体＋設計会社＋建設会社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70550" y="812750"/>
            <a:ext cx="2692450" cy="3810446"/>
          </a:xfrm>
          <a:prstGeom prst="roundRect">
            <a:avLst>
              <a:gd name="adj" fmla="val 18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0550" y="827038"/>
            <a:ext cx="269245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7501" y="968276"/>
            <a:ext cx="24873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DX伴走支援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7501" y="1301651"/>
            <a:ext cx="248732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土木技術とITの両方を理解する専門人材が現場に入り、ツールの定着・業務改善・効果測定を支援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501" y="4261396"/>
            <a:ext cx="2487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8309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全対象企業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4750147"/>
            <a:ext cx="8382000" cy="393353"/>
          </a:xfrm>
          <a:prstGeom prst="roundRect">
            <a:avLst>
              <a:gd name="adj" fmla="val 12915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435" y="4851648"/>
            <a:ext cx="818713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佐賀市契約の地場建設会社（まず1〜2社からPOC） ｜ 期間: 令和8〜10年度（3年間） ｜ 連携: 伊藤忠商事DXパートナー企業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77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634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439550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取組①: DXツール導入支援の具体内容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65395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点検業務のDX化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26902"/>
          <a:ext cx="8382000" cy="914400"/>
        </p:xfrm>
        <a:graphic>
          <a:graphicData uri="http://schemas.openxmlformats.org/drawingml/2006/table">
            <a:tbl>
              <a:tblPr/>
              <a:tblGrid>
                <a:gridCol w="1843980"/>
                <a:gridCol w="2514600"/>
                <a:gridCol w="2514600"/>
                <a:gridCol w="150882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活用技術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12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橋梁点検の直営化支援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アレリオ橋梁点検（Agency Soft／NETIS登録）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外注費20万円/橋→約1〜2万円/橋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従量課金（初期費用なし）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17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道路損傷の早期発見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RoadManager（UrbanX／国交省カタログ掲載）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スマホを載せるだけで路面損傷を自動検出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月額制（無料トライアルあり）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ひび割れ検出の自動化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ひびみっけ（富士フイルム／国交省カタログ掲載）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点検調書作成時間を50%削減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従量課金（1枚数百円〜）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81000" y="1862584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施工業務のDX化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135535"/>
          <a:ext cx="8382000" cy="914400"/>
        </p:xfrm>
        <a:graphic>
          <a:graphicData uri="http://schemas.openxmlformats.org/drawingml/2006/table">
            <a:tbl>
              <a:tblPr/>
              <a:tblGrid>
                <a:gridCol w="1843980"/>
                <a:gridCol w="2514600"/>
                <a:gridCol w="2514600"/>
                <a:gridCol w="150882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活用技術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12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施工計画書の自動生成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NITACO 施工計画書AI（29業種対応）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1〜2週間→30分に短縮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無料〜月額3万円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17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工事写真台帳の自動化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Cheez（AI-OCR黒板読取＋台帳自動生成）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台帳作成時間を93%削減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打合簿・段階確認のデジタル化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現場Plus（福井コンピュータ／クラウド施工管理）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往復時間を70%削減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月額1万円（60人まで）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81000" y="307121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品質管理のDX化</a:t>
            </a:r>
            <a:endParaRPr lang="en-US" sz="1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3344168"/>
          <a:ext cx="8382000" cy="914400"/>
        </p:xfrm>
        <a:graphic>
          <a:graphicData uri="http://schemas.openxmlformats.org/drawingml/2006/table">
            <a:tbl>
              <a:tblPr/>
              <a:tblGrid>
                <a:gridCol w="1843980"/>
                <a:gridCol w="2514600"/>
                <a:gridCol w="2514600"/>
                <a:gridCol w="150882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活用技術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12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出来形・品質データの電子化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SiteBox（KENTEM／NETIS登録）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現場で直接入力→事務所転記が不要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年額13,200円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17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配筋検査の省力化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Modely（DataLabs／NETIS-VE）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鉄筋径・ピッチ自動計測。80%省力化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従量課金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48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3420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点検DX① 橋梁点検の直営化支援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01576"/>
            <a:ext cx="414533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057126"/>
            <a:ext cx="4064050" cy="12180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橋梁点検を外注から直営に転換し、コストを大幅削減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タブレット端末で現場の損傷を直接記録（NETIS登録技術）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CADソフト不要。画面上で損傷をマーキングするだけで損傷図を自動生成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点検調書（PDF）がワンクリックで出力される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701576"/>
            <a:ext cx="414533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製品画面：アレリオ橋梁点検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082427"/>
            <a:ext cx="4064050" cy="2971800"/>
          </a:xfrm>
          <a:prstGeom prst="roundRect">
            <a:avLst>
              <a:gd name="adj" fmla="val 1709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nodatoshio/Documents/contextAI/customers/municipal/materials/workspace/slides/captures/06a_are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398687"/>
            <a:ext cx="3555950" cy="2222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6823" y="3877121"/>
            <a:ext cx="397045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2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https://www.agencysoft.co.jp/bridge/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0" y="4155728"/>
            <a:ext cx="9144000" cy="5305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306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306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外注費 20万円/橋 → 約1〜2万円/橋（▲90〜95%）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47009" y="4257229"/>
            <a:ext cx="284998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47009" y="4424809"/>
            <a:ext cx="2849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従量課金（初期費用なし）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111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NETIS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4111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KT-210070-A 登録技術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48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31868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点検DX② 道路損傷の早期発見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76126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006227"/>
            <a:ext cx="4064050" cy="148485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パトロール車のダッシュボードにスマートフォンを設置するだけで導入可能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走行中にAIが路面損傷（ポットホール・ひび割れ・わだち掘れ等）をリアルタイムで自動検出する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検出結果は地図上に自動マッピングされ、損傷の位置・種類・深刻度を一目で把握できる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国交省カタログ掲載技術。全国40以上の自治体で導入実績あり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676126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製品画面：RoadManager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019026"/>
            <a:ext cx="4064050" cy="1295102"/>
          </a:xfrm>
          <a:prstGeom prst="roundRect">
            <a:avLst>
              <a:gd name="adj" fmla="val 3922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nodatoshio/Documents/contextAI/customers/municipal/materials/workspace/slides/captures/06b_road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501" y="1053852"/>
            <a:ext cx="182880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53888" y="2209502"/>
            <a:ext cx="4074286" cy="6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50"/>
              </a:lnSpc>
              <a:spcBef>
                <a:spcPts val="100"/>
              </a:spcBef>
              <a:buNone/>
            </a:pPr>
            <a:r>
              <a:rPr lang="en-US" sz="5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https://urbanx-tech.com/services</a:t>
            </a:r>
            <a:endParaRPr lang="en-US" sz="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8950" y="2390180"/>
          <a:ext cx="4064050" cy="914400"/>
        </p:xfrm>
        <a:graphic>
          <a:graphicData uri="http://schemas.openxmlformats.org/drawingml/2006/table">
            <a:tbl>
              <a:tblPr/>
              <a:tblGrid>
                <a:gridCol w="527596"/>
                <a:gridCol w="1739652"/>
                <a:gridCol w="1787277"/>
              </a:tblGrid>
              <a:tr h="2539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従来の路面点検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AI路面診断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69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方法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専用車両（路面性状測定車）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スマートフォン1台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69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100〜300万円/km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専用車の約1/20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9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頻度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数年に1回（高コストのため）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日常パトロールで毎回実施可能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0" y="4155728"/>
            <a:ext cx="9144000" cy="5305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5306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5306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日常パトロールが自動的に路面診断に。専用車不要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147009" y="4257229"/>
            <a:ext cx="284998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147009" y="4424809"/>
            <a:ext cx="2849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月額制（無料トライアルあり）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4111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94111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全国40+自治体導入済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48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3420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点検DX③ ひび割れ検出の自動化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01576"/>
            <a:ext cx="414533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057126"/>
            <a:ext cx="4064050" cy="142101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コンクリート構造物（橋梁・トンネル等）の写真をアップロードするだけでAIがひび割れを自動検出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ひび割れの幅（0.1mm単位）・長さを自動計測し、損傷図を生成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熟練技術者と同等の検出精度を実現。国交省の点検支援技術性能カタログにも掲載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撮影は一般的なデジタルカメラやスマートフォンで可能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701576"/>
            <a:ext cx="414533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製品画面：ひびみっけ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082427"/>
            <a:ext cx="4064050" cy="2971800"/>
          </a:xfrm>
          <a:prstGeom prst="roundRect">
            <a:avLst>
              <a:gd name="adj" fmla="val 1709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nodatoshio/Documents/contextAI/customers/municipal/materials/workspace/slides/captures/06c_hibimik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398687"/>
            <a:ext cx="3555950" cy="2222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6823" y="3877121"/>
            <a:ext cx="397045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2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https://www.fujifilm.com/jp/ja/business/inspection/infraservice/hibimikke/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0" y="4155728"/>
            <a:ext cx="9144000" cy="5305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306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306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点検調書作成時間を50%削減。損傷図を自動生成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47009" y="4257229"/>
            <a:ext cx="284998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47009" y="4424809"/>
            <a:ext cx="2849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従量課金（1枚数百円〜。初期費用・月額固定費なし）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111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認定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4111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国交省 点検支援技術性能カタログ掲載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48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3420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施工DX① 施工計画書の自動生成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76126"/>
            <a:ext cx="4498330" cy="1663601"/>
          </a:xfrm>
          <a:prstGeom prst="roundRect">
            <a:avLst>
              <a:gd name="adj" fmla="val 458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676126"/>
            <a:ext cx="0" cy="1663601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764977"/>
            <a:ext cx="42904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Before（現状）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6050" y="1015752"/>
            <a:ext cx="4206329" cy="5649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過去の施工計画書をコピーし、Excel/Wordで1〜2週間かけて修正</a:t>
            </a:r>
            <a:endParaRPr lang="en-US" sz="900" dirty="0"/>
          </a:p>
          <a:p>
            <a:pPr algn="l" marL="88900" indent="-889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工事ごとに記載すべき項目が異なり、抜け漏れが発生しやすい</a:t>
            </a:r>
            <a:endParaRPr lang="en-US" sz="900" dirty="0"/>
          </a:p>
          <a:p>
            <a:pPr algn="l" marL="88900" indent="-889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ベテランの書き方を真似るが、経験が浅いと品質にバラつき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415927"/>
            <a:ext cx="4498330" cy="1663601"/>
          </a:xfrm>
          <a:prstGeom prst="roundRect">
            <a:avLst>
              <a:gd name="adj" fmla="val 4580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415927"/>
            <a:ext cx="0" cy="1663601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050" y="2504777"/>
            <a:ext cx="42904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After（AI導入後）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6050" y="2755553"/>
            <a:ext cx="4206329" cy="5649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設計図書（PDF）をアップロードするだけでAIが初稿を自動生成</a:t>
            </a:r>
            <a:endParaRPr lang="en-US" sz="900" dirty="0"/>
          </a:p>
          <a:p>
            <a:pPr algn="l" marL="88900" indent="-889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工種に応じた必須記載事項を自動で網羅。抜け漏れを防止</a:t>
            </a:r>
            <a:endParaRPr lang="en-US" sz="900" dirty="0"/>
          </a:p>
          <a:p>
            <a:pPr algn="l" marL="88900" indent="-889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生成時間は最短30分。人間は内容の確認・修正に集中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82480" y="676126"/>
            <a:ext cx="3754130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製品画面：NITACO 施工計画書AI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82480" y="1056977"/>
            <a:ext cx="3680520" cy="3022550"/>
          </a:xfrm>
          <a:prstGeom prst="roundRect">
            <a:avLst>
              <a:gd name="adj" fmla="val 1681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/Users/nodatoshio/Documents/contextAI/customers/municipal/materials/workspace/slides/captures/06d_nita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1790" y="1481138"/>
            <a:ext cx="3301901" cy="2057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98024" y="3902422"/>
            <a:ext cx="357925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2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https://tsukunobi.com/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0" y="4155728"/>
            <a:ext cx="9144000" cy="5305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5306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306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作成期間 1〜2週間 → 最短30分（▲90%以上）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47009" y="4257229"/>
            <a:ext cx="284998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147009" y="4424809"/>
            <a:ext cx="2849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無料（ベータ版）〜 月額3万円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111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94111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全29業種の施工計画書に対応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48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3420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施工DX② 工事写真台帳の自動化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01576"/>
            <a:ext cx="414533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057126"/>
            <a:ext cx="4064050" cy="142101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工事現場で撮影した写真（黒板含む）をアプリに取り込むだけで台帳を自動生成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AI-OCRが黒板の手書き文字をほぼ100%の精度で読み取り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写真の工種・撮影箇所・撮影者を自動分類し、台帳の正しい位置に自動配置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従来は1工事あたり数日かかっていた台帳作成が数時間で完了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701576"/>
            <a:ext cx="414533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製品画面：Cheez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082427"/>
            <a:ext cx="4064050" cy="2971800"/>
          </a:xfrm>
          <a:prstGeom prst="roundRect">
            <a:avLst>
              <a:gd name="adj" fmla="val 1709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nodatoshio/Documents/contextAI/customers/municipal/materials/workspace/slides/captures/06e_chee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398687"/>
            <a:ext cx="3555950" cy="2222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6823" y="3877121"/>
            <a:ext cx="397045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2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https://cheez.ai/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0" y="4155728"/>
            <a:ext cx="9144000" cy="5305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306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306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台帳作成時間 数日 → 数時間（▲93%削減）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47009" y="4257229"/>
            <a:ext cx="284998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47009" y="4424809"/>
            <a:ext cx="2849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月額制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111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4111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AI-OCR黒板読取（読取精度ほぼ100%）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48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26950"/>
            <a:ext cx="4341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施工DX③ 打合簿・段階確認のデジタル化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76126"/>
            <a:ext cx="4515594" cy="1078706"/>
          </a:xfrm>
          <a:prstGeom prst="roundRect">
            <a:avLst>
              <a:gd name="adj" fmla="val 470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676126"/>
            <a:ext cx="0" cy="1078706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752326"/>
            <a:ext cx="4308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Before（現状）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50" y="1031677"/>
            <a:ext cx="4223593" cy="62165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打合簿をメール添付で往復。修正のたびにファイルが増殖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段階確認は電話で日程調整→現場立会→紙に署名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「最新版はどれか」「承認は終わったのか」が常に曖昧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1831032"/>
            <a:ext cx="4515594" cy="1078706"/>
          </a:xfrm>
          <a:prstGeom prst="roundRect">
            <a:avLst>
              <a:gd name="adj" fmla="val 4709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831032"/>
            <a:ext cx="0" cy="1078706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050" y="1907232"/>
            <a:ext cx="4308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After（クラウド化後）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050" y="2186583"/>
            <a:ext cx="4223593" cy="62165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クラウド上で打合簿を作成→自治体担当者に即時通知→画面上で承認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段階確認もクラウド上で写真＋記録を共有。移動時間を大幅削減</a:t>
            </a:r>
            <a:endParaRPr lang="en-US" sz="1000" dirty="0"/>
          </a:p>
          <a:p>
            <a:pPr algn="l" marL="88900" indent="-88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全てのやり取りが自動記録され、監査証跡として蓄積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50495" y="676126"/>
            <a:ext cx="3684755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製品画面：現場Plus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50495" y="1056977"/>
            <a:ext cx="3612505" cy="3022550"/>
          </a:xfrm>
          <a:prstGeom prst="roundRect">
            <a:avLst>
              <a:gd name="adj" fmla="val 1681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/Users/nodatoshio/Documents/contextAI/customers/municipal/materials/workspace/slides/captures/06f_genba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673" y="1557338"/>
            <a:ext cx="3048000" cy="1905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67399" y="3902422"/>
            <a:ext cx="3509876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2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https://archi.fukuicompu.co.jp/products/genba/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0" y="4155728"/>
            <a:ext cx="9144000" cy="5305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5306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306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打合簿往復時間 3〜5日 → 即日〜1日（▲70%削減）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47009" y="4257229"/>
            <a:ext cx="284998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147009" y="4424809"/>
            <a:ext cx="2849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月額1万円（60人まで利用可能）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1110" y="4257229"/>
            <a:ext cx="28498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941110" y="4424809"/>
            <a:ext cx="2849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全やり取りが自動記録。「言った言わない」を解消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10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967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01501"/>
            <a:ext cx="41195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品質DX① 出来形・品質データの電子化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12577"/>
            <a:ext cx="4481426" cy="250775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939552"/>
            <a:ext cx="4393555" cy="11799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スマートフォンの電子黒板アプリで工事写真を撮影（物理的な黒板が不要に）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出来形の測定値・品質管理データをスマホ画面から直接入力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入力データはクラウドに自動同期。事務所に戻ってからの転記作業が不要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品質管理帳票（コンクリート品質管理表等）が入力データから自動生成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NETIS登録技術。国交省電子黒板認定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8456" y="612577"/>
            <a:ext cx="3809235" cy="250775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製品画面：SiteBox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8456" y="964853"/>
            <a:ext cx="3734544" cy="2978944"/>
          </a:xfrm>
          <a:prstGeom prst="roundRect">
            <a:avLst>
              <a:gd name="adj" fmla="val 1705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nodatoshio/Documents/contextAI/customers/municipal/materials/workspace/slides/captures/06g_site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4703" y="1367284"/>
            <a:ext cx="3301901" cy="2057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42919" y="3766691"/>
            <a:ext cx="3634356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2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https://www.kentem.jp/product-service/sitebox/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0" y="4045297"/>
            <a:ext cx="9144000" cy="641003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3060" y="4146798"/>
            <a:ext cx="284982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3060" y="4299049"/>
            <a:ext cx="28498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事務所での転記作業が不要に。物理黒板も不要（高所作業の安全性向上）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47009" y="4218236"/>
            <a:ext cx="284998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47009" y="4370487"/>
            <a:ext cx="28499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年額13,200円/ライセンス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1110" y="4218236"/>
            <a:ext cx="284982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NETIS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41110" y="4370487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KT-230048-A 登録技術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10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96788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01501"/>
            <a:ext cx="29536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品質DX② 配筋検査の省力化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12577"/>
            <a:ext cx="4145331" cy="250775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939552"/>
            <a:ext cx="4064050" cy="10819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55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スマートフォンまたはタブレットを鉄筋にかざすだけで、3Dスキャンにより自動計測</a:t>
            </a:r>
            <a:endParaRPr lang="en-US" sz="1000" dirty="0"/>
          </a:p>
          <a:p>
            <a:pPr algn="l" marL="101600" indent="-101600">
              <a:lnSpc>
                <a:spcPts val="1255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鉄筋の径（D10, D13等）、本数、ピッチ（間隔）を自動で読み取り</a:t>
            </a:r>
            <a:endParaRPr lang="en-US" sz="1000" dirty="0"/>
          </a:p>
          <a:p>
            <a:pPr algn="l" marL="101600" indent="-101600">
              <a:lnSpc>
                <a:spcPts val="1255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計測値を設計図の値と自動照合し、OK/NG判定を即座に表示</a:t>
            </a:r>
            <a:endParaRPr lang="en-US" sz="1000" dirty="0"/>
          </a:p>
          <a:p>
            <a:pPr algn="l" marL="101600" indent="-101600">
              <a:lnSpc>
                <a:spcPts val="1255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従来の巻尺＋手書き記録と比較して、80%の省力化を実現</a:t>
            </a:r>
            <a:endParaRPr lang="en-US" sz="1000" dirty="0"/>
          </a:p>
          <a:p>
            <a:pPr algn="l" marL="101600" indent="-101600">
              <a:lnSpc>
                <a:spcPts val="1255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NETIS-VE登録（活用促進技術）。工事成績評定で加点対象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612577"/>
            <a:ext cx="4145331" cy="250775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製品画面：Modely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950" y="939552"/>
            <a:ext cx="4064050" cy="1104602"/>
          </a:xfrm>
          <a:prstGeom prst="roundRect">
            <a:avLst>
              <a:gd name="adj" fmla="val 4599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nodatoshio/Documents/contextAI/customers/municipal/materials/workspace/slides/captures/06h_mode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8901" y="974378"/>
            <a:ext cx="1524000" cy="952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53888" y="1939528"/>
            <a:ext cx="4074286" cy="6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50"/>
              </a:lnSpc>
              <a:spcBef>
                <a:spcPts val="100"/>
              </a:spcBef>
              <a:buNone/>
            </a:pPr>
            <a:r>
              <a:rPr lang="en-US" sz="5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https://modely.datalabs.jp/</a:t>
            </a:r>
            <a:endParaRPr lang="en-US" sz="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8950" y="2145655"/>
          <a:ext cx="4064050" cy="914400"/>
        </p:xfrm>
        <a:graphic>
          <a:graphicData uri="http://schemas.openxmlformats.org/drawingml/2006/table">
            <a:tbl>
              <a:tblPr/>
              <a:tblGrid>
                <a:gridCol w="833884"/>
                <a:gridCol w="1419076"/>
                <a:gridCol w="1801564"/>
              </a:tblGrid>
              <a:tr h="3935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従来の配筋検査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3D配筋検査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935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計測方法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巻尺で手作業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スマホ3Dスキャン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35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記録方法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手書きメモ→転記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自動記録・自動保存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5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所要時間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従来比80%削減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35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評定加点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NETIS-VE（加点対象）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0" y="4198888"/>
            <a:ext cx="9144000" cy="498128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53060" y="4300389"/>
            <a:ext cx="284982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53060" y="4452640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検査工数80%省力化。巻尺・手書き記録が不要に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147009" y="4300389"/>
            <a:ext cx="284998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147009" y="4452640"/>
            <a:ext cx="28499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従量課金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41110" y="4300389"/>
            <a:ext cx="284982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NETIS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941110" y="4452640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CB-230008-A（VE登録 = 活用促進技術）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786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取組②: 図面データ基盤の整備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761851"/>
            <a:ext cx="8382000" cy="682526"/>
          </a:xfrm>
          <a:prstGeom prst="roundRect">
            <a:avLst>
              <a:gd name="adj" fmla="val 7443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1003102"/>
            <a:ext cx="655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7845" y="938213"/>
            <a:ext cx="740260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自治体・補修設計会社・地場建設会社の3者が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同じ図面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を軸にやり取りするクラウド基盤。点検・設計・施工のデータを一気通貫で束ねる「土木版ドキュメント管理プラットフォーム」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1000" y="1790254"/>
            <a:ext cx="83820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000" y="1545878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CiviLinkが提供する3つの価値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1875979"/>
            <a:ext cx="2726234" cy="1258937"/>
          </a:xfrm>
          <a:prstGeom prst="roundRect">
            <a:avLst>
              <a:gd name="adj" fmla="val 4035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1000" y="1890266"/>
            <a:ext cx="2726234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950" y="1980754"/>
            <a:ext cx="25217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探す時間をゼロに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171105"/>
            <a:ext cx="25217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図面を軸に全情報を一元管理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2418755"/>
            <a:ext cx="252177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図面・写真・点検調書・打合簿・承認履歴を図面に紐付け一元管理。「あの図面どこ？」が消える。過去の補修履歴・指摘履歴も横断検索。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8734" y="1875979"/>
            <a:ext cx="2726382" cy="1258937"/>
          </a:xfrm>
          <a:prstGeom prst="roundRect">
            <a:avLst>
              <a:gd name="adj" fmla="val 4035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08734" y="1890266"/>
            <a:ext cx="2726382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5685" y="1980754"/>
            <a:ext cx="252193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承認待ちをなくす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5685" y="2171105"/>
            <a:ext cx="25219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照査・承認をクラウドで即時化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5685" y="2418755"/>
            <a:ext cx="252193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監督員と施工会社間の照査・承認をCiviLink上でリアルタイム処理。紙・FAX・押印待ちを排除。段階確認・材料承認・打合簿が画面上で完結。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6618" y="1875979"/>
            <a:ext cx="2726382" cy="1258937"/>
          </a:xfrm>
          <a:prstGeom prst="roundRect">
            <a:avLst>
              <a:gd name="adj" fmla="val 4035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36618" y="1890266"/>
            <a:ext cx="2726382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568" y="1980754"/>
            <a:ext cx="252193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記録が勝手に残る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568" y="2171105"/>
            <a:ext cx="25219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監査証跡が自動蓄積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568" y="2418755"/>
            <a:ext cx="252193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照査コメント・承認履歴・図面バージョンが自動で監査証跡化。施工中にデータが蓄積され、電子納品・完成図書の原本が自然と整う。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1000" y="3480792"/>
            <a:ext cx="83820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000" y="3236416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3者への効果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1000" y="3566517"/>
            <a:ext cx="2726234" cy="660499"/>
          </a:xfrm>
          <a:prstGeom prst="roundRect">
            <a:avLst>
              <a:gd name="adj" fmla="val 76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95288" y="3566517"/>
            <a:ext cx="0" cy="660499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076" y="3629918"/>
            <a:ext cx="2544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1076" y="3855244"/>
            <a:ext cx="254455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監督員の照査・承認業務を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50%削減</a:t>
            </a:r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。職員の技術継承データ基盤として活用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8734" y="3566517"/>
            <a:ext cx="2726382" cy="660499"/>
          </a:xfrm>
          <a:prstGeom prst="roundRect">
            <a:avLst>
              <a:gd name="adj" fmla="val 76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223022" y="3566517"/>
            <a:ext cx="0" cy="660499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8810" y="3629918"/>
            <a:ext cx="25447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補修設計会社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8810" y="3855244"/>
            <a:ext cx="2544702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照査やり取り日数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30%削減</a:t>
            </a:r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・電子納品準備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70%削減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6618" y="3566517"/>
            <a:ext cx="2726382" cy="660499"/>
          </a:xfrm>
          <a:prstGeom prst="roundRect">
            <a:avLst>
              <a:gd name="adj" fmla="val 76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50905" y="3566517"/>
            <a:ext cx="0" cy="660499"/>
          </a:xfrm>
          <a:prstGeom prst="line">
            <a:avLst/>
          </a:prstGeom>
          <a:noFill/>
          <a:ln w="28575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6693" y="3629918"/>
            <a:ext cx="25447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6693" y="3855244"/>
            <a:ext cx="254470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打合簿往復時間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70%削減</a:t>
            </a:r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・残業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月20h削減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46389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POC計画：1橋で3者一気通貫を実証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1000" y="1050727"/>
            <a:ext cx="410215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787301"/>
            <a:ext cx="418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POC概要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11002"/>
          <a:ext cx="4102150" cy="914400"/>
        </p:xfrm>
        <a:graphic>
          <a:graphicData uri="http://schemas.openxmlformats.org/drawingml/2006/table">
            <a:tbl>
              <a:tblPr/>
              <a:tblGrid>
                <a:gridCol w="1312664"/>
                <a:gridCol w="2789486"/>
              </a:tblGrid>
              <a:tr h="235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2026年5月〜2027年3月（11ヶ月）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地場建設会社 1〜2社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対象橋梁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補修工事予定の橋梁 数橋（市側で選定）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導入構成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写真アプリ ＋ チャット ＋ AI点検 ＋ CiviLink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1000" y="2378422"/>
            <a:ext cx="410215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1000" y="2172146"/>
            <a:ext cx="41841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438698"/>
          <a:ext cx="4102150" cy="914400"/>
        </p:xfrm>
        <a:graphic>
          <a:graphicData uri="http://schemas.openxmlformats.org/drawingml/2006/table">
            <a:tbl>
              <a:tblPr/>
              <a:tblGrid>
                <a:gridCol w="902345"/>
                <a:gridCol w="1968996"/>
                <a:gridCol w="1230809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領域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35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点検効率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調書作成時間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50%削減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設計効率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照査やり取り日数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30%削減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施工効率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打合簿の往復時間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70%削減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月20h削減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監督員チェック時間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30%削減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660850" y="1050727"/>
            <a:ext cx="410215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0850" y="787301"/>
            <a:ext cx="418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段階的な実証スケジュール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60850" y="1111002"/>
            <a:ext cx="4102150" cy="653951"/>
          </a:xfrm>
          <a:prstGeom prst="roundRect">
            <a:avLst>
              <a:gd name="adj" fmla="val 582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679900" y="1111002"/>
            <a:ext cx="0" cy="653951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25901" y="1187202"/>
            <a:ext cx="388635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2026年5〜6月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25901" y="1368772"/>
            <a:ext cx="38863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既存ツールパッケージ導入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（チャット・写真アプリ・クラウド）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660850" y="1828354"/>
            <a:ext cx="4102150" cy="653951"/>
          </a:xfrm>
          <a:prstGeom prst="roundRect">
            <a:avLst>
              <a:gd name="adj" fmla="val 582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4679900" y="1828354"/>
            <a:ext cx="0" cy="653951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25901" y="1904554"/>
            <a:ext cx="388635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2026年7〜9月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25901" y="2086124"/>
            <a:ext cx="38863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点検フェーズでCiviLink活用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（損傷記録の図面紐付けテスト）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660850" y="2545705"/>
            <a:ext cx="4102150" cy="653951"/>
          </a:xfrm>
          <a:prstGeom prst="roundRect">
            <a:avLst>
              <a:gd name="adj" fmla="val 582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4679900" y="2545705"/>
            <a:ext cx="0" cy="653951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25901" y="2621905"/>
            <a:ext cx="388635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2026年10〜12月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825901" y="2803475"/>
            <a:ext cx="38863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設計フェーズで照査WF実証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（デジタル照査・履歴チェックテスト）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660850" y="3263057"/>
            <a:ext cx="4102150" cy="653951"/>
          </a:xfrm>
          <a:prstGeom prst="roundRect">
            <a:avLst>
              <a:gd name="adj" fmla="val 582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4679900" y="3263057"/>
            <a:ext cx="0" cy="653951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25901" y="3339257"/>
            <a:ext cx="388635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2027年1〜3月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825901" y="3520827"/>
            <a:ext cx="38863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施工フェーズで打合簿デジタル化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（承認WF・段階確認、電子納品自動構成テスト）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81000" y="4791075"/>
            <a:ext cx="8382000" cy="352425"/>
          </a:xfrm>
          <a:prstGeom prst="roundRect">
            <a:avLst>
              <a:gd name="adj" fmla="val 14414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78435" y="4867275"/>
            <a:ext cx="8187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2027年4月〜 包括委託開始 ⇒ POC成果を全契約建設会社に展開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25647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取組③: DX伴走支援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787301"/>
            <a:ext cx="3792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なぜ伴走支援が必要か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092101"/>
            <a:ext cx="3717727" cy="135880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ツールを導入しても「現場の業務に合わない」「結局使われなくなる」で終わるケースが全国で多発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土木の現場を理解した人間が、現場に入って一緒に使いながら業務フローごと改善する必要がある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業務改善の知見がないままツールだけ入れても、期待する効果は得られない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1877" y="787301"/>
          <a:ext cx="4461123" cy="914400"/>
        </p:xfrm>
        <a:graphic>
          <a:graphicData uri="http://schemas.openxmlformats.org/drawingml/2006/table">
            <a:tbl>
              <a:tblPr/>
              <a:tblGrid>
                <a:gridCol w="692497"/>
                <a:gridCol w="3174504"/>
                <a:gridCol w="594122"/>
              </a:tblGrid>
              <a:tr h="301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フェーズ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360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導入準備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現状IT環境調査、業務フロー分析、最適ツール選定、補助金申請支援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1ヶ月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0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導入・研修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ツール初期設定、操作研修（現場＋事務所）、マニュアル作成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定着支援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週1回の現場訪問、困りごと対応、業務フロー改善提案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3〜6ヶ月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0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効果測定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導入前後の工数比較、コスト削減額算出、改善点特定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随時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1000" y="4762798"/>
            <a:ext cx="8382000" cy="380702"/>
          </a:xfrm>
          <a:prstGeom prst="roundRect">
            <a:avLst>
              <a:gd name="adj" fmla="val 13344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0050" y="4762798"/>
            <a:ext cx="0" cy="380702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4864298"/>
            <a:ext cx="81998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実施体制: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伊藤忠商事のDXパートナー企業（土木技術者約20名＋IT技術者を擁する）が実施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19947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所要経費と財源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761851"/>
            <a:ext cx="43907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3年間の事業費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22152"/>
          <a:ext cx="4304705" cy="914400"/>
        </p:xfrm>
        <a:graphic>
          <a:graphicData uri="http://schemas.openxmlformats.org/drawingml/2006/table">
            <a:tbl>
              <a:tblPr/>
              <a:tblGrid>
                <a:gridCol w="439043"/>
                <a:gridCol w="3255764"/>
                <a:gridCol w="609898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取組内容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事業費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294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POC: 建設会社1〜2社＋橋梁数橋で3者連携実証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○○万円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4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横展開: 対象企業拡大＋道路・下水道分野展開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○○万円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定着: 包括委託の標準業務フローにDX基盤組込み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○○万円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81000" y="2074069"/>
            <a:ext cx="43907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活用可能な財源</a:t>
            </a:r>
            <a:endParaRPr lang="en-US" sz="11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334369"/>
          <a:ext cx="4304705" cy="914400"/>
        </p:xfrm>
        <a:graphic>
          <a:graphicData uri="http://schemas.openxmlformats.org/drawingml/2006/table">
            <a:tbl>
              <a:tblPr/>
              <a:tblGrid>
                <a:gridCol w="1872258"/>
                <a:gridCol w="608112"/>
                <a:gridCol w="1824335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294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国: デジタル化・AI導入補助金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1/2〜4/5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クラウド利用料（最大2年分）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4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国: ものづくり補助金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1/2〜2/3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ICT設備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県: 佐賀県建設DX加速化補助金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2/3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ICT建機・機器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4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市: 一般財源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伴走支援費等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888855" y="761851"/>
            <a:ext cx="3874145" cy="2088059"/>
          </a:xfrm>
          <a:prstGeom prst="roundRect">
            <a:avLst>
              <a:gd name="adj" fmla="val 2433"/>
            </a:avLst>
          </a:prstGeom>
          <a:solidFill>
            <a:srgbClr val="EFF5EF"/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60305" y="907852"/>
            <a:ext cx="3601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1社あたりの導入コスト（初年度）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60305" y="1212652"/>
            <a:ext cx="3531245" cy="10150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基本パッケージ: 月額約15,000円（チャット・写真・施工管理）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図面データ基盤: 利用料（別途）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橋梁AI点検: 1〜2万円/橋（従量課金）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品質管理アプリ: 年額13,200円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60305" y="2303859"/>
            <a:ext cx="36018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国・県の補助金を重ね打ちすれば、企業の実質負担は年間数十万円レベル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14248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費用対効果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761851"/>
          <a:ext cx="8382000" cy="914400"/>
        </p:xfrm>
        <a:graphic>
          <a:graphicData uri="http://schemas.openxmlformats.org/drawingml/2006/table">
            <a:tbl>
              <a:tblPr/>
              <a:tblGrid>
                <a:gridCol w="3216771"/>
                <a:gridCol w="1539180"/>
                <a:gridCol w="2050256"/>
                <a:gridCol w="1575792"/>
              </a:tblGrid>
              <a:tr h="301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DX導入後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削減効果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1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橋梁点検外注費（900橋/5年）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約1.8億円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約900〜1,800万円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▲90〜95%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補修設計の照査やり取り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平均2週間/件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平均1週間/件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打合簿・段階確認の往復時間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3〜5日/回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即日〜1日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施工計画書の作成時間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1〜2週間/件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30分〜1日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▲90%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工事写真台帳の作成時間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数日/工事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▲93%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建設会社の残業時間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月20h/人削減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1000" y="2820442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定性的効果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" y="3201293"/>
            <a:ext cx="8382000" cy="70455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ベテラン技術者の判断パターンがデータとして蓄積→技術継承の仕組みが構築される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地場建設会社のICT対応力向上→i-Con 2.0への対応→受注競争力の維持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NETIS登録技術の活用→工事成績評定で加点→企業の評価向上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1000" y="4007346"/>
            <a:ext cx="8382000" cy="488752"/>
          </a:xfrm>
          <a:prstGeom prst="roundRect">
            <a:avLst>
              <a:gd name="adj" fmla="val 10394"/>
            </a:avLst>
          </a:prstGeom>
          <a:solidFill>
            <a:srgbClr val="EFF5EF"/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7866" y="4127897"/>
            <a:ext cx="8148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長寿命化計画10年費用41億円に対し、約1.3億円/10年のコスト削減を見込む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3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8891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207213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包括委託との連携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679400"/>
          <a:ext cx="8382000" cy="914400"/>
        </p:xfrm>
        <a:graphic>
          <a:graphicData uri="http://schemas.openxmlformats.org/drawingml/2006/table">
            <a:tbl>
              <a:tblPr/>
              <a:tblGrid>
                <a:gridCol w="4191000"/>
                <a:gridCol w="4191000"/>
              </a:tblGrid>
              <a:tr h="301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従来の包括委託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DX基盤を組み込んだ包括委託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1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紙ベースの報告書→引継ぎ時に情報散逸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データが基盤上に蓄積→委託先変更時も継続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点検・設計・施工が分断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3者のデータが一気通貫で流れる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個別企業のICT環境に依存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共通基盤で統一された業務フロー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5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事後保全中心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データに基づく予防保全への転換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1000" y="2135386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長寿命化計画の基本方針との整合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" y="2490936"/>
            <a:ext cx="8382000" cy="1040457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31750" y="2490936"/>
            <a:ext cx="849787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データ管理方法の検討→図面データ基盤で実現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1750" y="2782788"/>
            <a:ext cx="849787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職員が円滑に維持管理できる体制構築→デジタル照査・承認WFで実現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1750" y="3074640"/>
            <a:ext cx="849787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技術継承の仕組みの構築→判断ログの蓄積・AI活用で実現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1750" y="3366492"/>
            <a:ext cx="849787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新技術活用方針（NETIS等）→国交省カタログ掲載技術を全面活用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1000" y="3709095"/>
            <a:ext cx="8382000" cy="330101"/>
          </a:xfrm>
          <a:prstGeom prst="roundRect">
            <a:avLst>
              <a:gd name="adj" fmla="val 153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3709095"/>
            <a:ext cx="0" cy="330101"/>
          </a:xfrm>
          <a:prstGeom prst="line">
            <a:avLst/>
          </a:prstGeom>
          <a:noFill/>
          <a:ln w="38100">
            <a:solidFill>
              <a:srgbClr val="1B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3785295"/>
            <a:ext cx="81998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令和9年4月開始予定の包括委託に向け、POC期間（R8年度）にDX基盤を先行整備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46063"/>
            <a:ext cx="914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8549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761851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 地域建設業DX普及促進事業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1180951"/>
            <a:ext cx="8382000" cy="347960"/>
          </a:xfrm>
          <a:prstGeom prst="roundRect">
            <a:avLst>
              <a:gd name="adj" fmla="val 14599"/>
            </a:avLst>
          </a:prstGeom>
          <a:solidFill>
            <a:srgbClr val="EFF5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180951"/>
            <a:ext cx="0" cy="34796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257151"/>
            <a:ext cx="819988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地場建設会社のICT活用を支援し、インフラ維持管理体制の持続可能性を確保する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1605111"/>
            <a:ext cx="2709267" cy="748605"/>
          </a:xfrm>
          <a:prstGeom prst="roundRect">
            <a:avLst>
              <a:gd name="adj" fmla="val 67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81000" y="1619399"/>
            <a:ext cx="2709267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501" y="1709886"/>
            <a:ext cx="2556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DXツール導入支援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501" y="1957536"/>
            <a:ext cx="2556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国交省カタログ掲載技術の活用、補助金申請支援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17218" y="1605111"/>
            <a:ext cx="2709416" cy="748605"/>
          </a:xfrm>
          <a:prstGeom prst="roundRect">
            <a:avLst>
              <a:gd name="adj" fmla="val 67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7218" y="1619399"/>
            <a:ext cx="2709416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8718" y="1709886"/>
            <a:ext cx="25565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図面データ基盤の整備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8718" y="1957536"/>
            <a:ext cx="2556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3者連携のクラウド基盤構築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53584" y="1605111"/>
            <a:ext cx="2709416" cy="748605"/>
          </a:xfrm>
          <a:prstGeom prst="roundRect">
            <a:avLst>
              <a:gd name="adj" fmla="val 67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53584" y="1619399"/>
            <a:ext cx="2709416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5085" y="1709886"/>
            <a:ext cx="25565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DX伴走支援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55085" y="1957536"/>
            <a:ext cx="2556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土木×ITの専門人材による現場定着支援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1000" y="242991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</a:t>
            </a:r>
            <a:pPr algn="l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令和8年度〜令和10年度（3年間）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1000" y="271566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1000" y="3001417"/>
            <a:ext cx="2019300" cy="583406"/>
          </a:xfrm>
          <a:prstGeom prst="roundRect">
            <a:avLst>
              <a:gd name="adj" fmla="val 8707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053" y="3087142"/>
            <a:ext cx="18331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90〜95%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4053" y="3356223"/>
            <a:ext cx="1833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点検外注費削減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01801" y="3001417"/>
            <a:ext cx="2019449" cy="583406"/>
          </a:xfrm>
          <a:prstGeom prst="roundRect">
            <a:avLst>
              <a:gd name="adj" fmla="val 8707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94853" y="3087142"/>
            <a:ext cx="183334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50〜93%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94853" y="3356223"/>
            <a:ext cx="18333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書類作業時間削減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2750" y="3001417"/>
            <a:ext cx="2019300" cy="583406"/>
          </a:xfrm>
          <a:prstGeom prst="roundRect">
            <a:avLst>
              <a:gd name="adj" fmla="val 8707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15804" y="3087142"/>
            <a:ext cx="18331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約1.3億円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15804" y="3356223"/>
            <a:ext cx="1833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コスト削減/10年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43551" y="3001417"/>
            <a:ext cx="2019449" cy="583406"/>
          </a:xfrm>
          <a:prstGeom prst="roundRect">
            <a:avLst>
              <a:gd name="adj" fmla="val 8707"/>
            </a:avLst>
          </a:prstGeom>
          <a:solidFill>
            <a:srgbClr val="F5F7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36603" y="3087142"/>
            <a:ext cx="183334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i-Con対応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36603" y="3356223"/>
            <a:ext cx="18333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受注競争力維持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1000" y="3661023"/>
            <a:ext cx="8382000" cy="330101"/>
          </a:xfrm>
          <a:prstGeom prst="roundRect">
            <a:avLst>
              <a:gd name="adj" fmla="val 15389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435" y="3737223"/>
            <a:ext cx="81871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国補助（デジタル化・AI導入 1/2〜4/5）＋ 県補助（佐賀県DX加速化 2/3）＋ 市一般財源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佐賀市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佐賀市 地域建設業DX普及促進事業（案）</dc:title>
  <dc:subject>PptxGenJS Presentation</dc:subject>
  <dc:creator>佐賀市 デジタル推進課</dc:creator>
  <cp:lastModifiedBy>佐賀市 デジタル推進課</cp:lastModifiedBy>
  <cp:revision>1</cp:revision>
  <dcterms:created xsi:type="dcterms:W3CDTF">2026-04-15T14:38:42Z</dcterms:created>
  <dcterms:modified xsi:type="dcterms:W3CDTF">2026-04-15T14:38:42Z</dcterms:modified>
</cp:coreProperties>
</file>