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5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682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99" y="253901"/>
            <a:ext cx="1015901" cy="2122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901" y="1159073"/>
            <a:ext cx="8031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600" b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佐賀市</a:t>
            </a:r>
            <a:r>
              <a:rPr lang="en-US" sz="3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3600" b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維持管理DX提案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34901" y="2048024"/>
            <a:ext cx="80316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自治体 x 補修設計会社 x 地場建設会社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901" y="2492425"/>
            <a:ext cx="80316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800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3者をつなぐデータ基盤 CiviLink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4901" y="2936825"/>
            <a:ext cx="80316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 err="1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伊藤忠商事株式会社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4901" y="3549551"/>
            <a:ext cx="80316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2026年4月20日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1000" y="152400"/>
            <a:ext cx="370449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佐賀市の橋梁維持管理の現状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895" y="188863"/>
            <a:ext cx="1701105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4401" y="965150"/>
            <a:ext cx="2616250" cy="1330077"/>
          </a:xfrm>
          <a:prstGeom prst="roundRect">
            <a:avLst>
              <a:gd name="adj" fmla="val 5729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47728" y="1142851"/>
            <a:ext cx="240959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2,842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7728" y="1609576"/>
            <a:ext cx="24095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7728" y="1917502"/>
            <a:ext cx="24095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管理橋梁数（橋長2m以上）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63801" y="965150"/>
            <a:ext cx="2616398" cy="1330077"/>
          </a:xfrm>
          <a:prstGeom prst="roundRect">
            <a:avLst>
              <a:gd name="adj" fmla="val 5729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67126" y="1142851"/>
            <a:ext cx="240974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900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367126" y="1609576"/>
            <a:ext cx="24097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67126" y="1917502"/>
            <a:ext cx="2409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自前点検（5年で1.1億円削減実績）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3350" y="965150"/>
            <a:ext cx="2616250" cy="1330077"/>
          </a:xfrm>
          <a:prstGeom prst="roundRect">
            <a:avLst>
              <a:gd name="adj" fmla="val 5729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186677" y="1142851"/>
            <a:ext cx="240959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~95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186677" y="1609576"/>
            <a:ext cx="24095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86677" y="1869877"/>
            <a:ext cx="24095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コンクリート橋の割合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44401" y="2472928"/>
            <a:ext cx="4025950" cy="1330077"/>
          </a:xfrm>
          <a:prstGeom prst="roundRect">
            <a:avLst>
              <a:gd name="adj" fmla="val 5729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33631" y="2650629"/>
            <a:ext cx="384749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41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533631" y="3117354"/>
            <a:ext cx="384749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億円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33631" y="3425279"/>
            <a:ext cx="3847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10年間の維持管理費用（設計9.8億 + 修繕21.2億 + 点検10億）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673501" y="2472928"/>
            <a:ext cx="4026098" cy="1330077"/>
          </a:xfrm>
          <a:prstGeom prst="roundRect">
            <a:avLst>
              <a:gd name="adj" fmla="val 5729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62729" y="2650629"/>
            <a:ext cx="384764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70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4762729" y="3117354"/>
            <a:ext cx="38476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億円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762729" y="3425279"/>
            <a:ext cx="38476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50年間のコスト縮減目標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4401" y="4082207"/>
            <a:ext cx="8255198" cy="403027"/>
          </a:xfrm>
          <a:prstGeom prst="rect">
            <a:avLst/>
          </a:prstGeom>
          <a:solidFill>
            <a:srgbClr val="F5EA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63451" y="4082207"/>
            <a:ext cx="0" cy="403027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5"/>
          <p:cNvSpPr/>
          <p:nvPr/>
        </p:nvSpPr>
        <p:spPr>
          <a:xfrm>
            <a:off x="634901" y="4183707"/>
            <a:ext cx="80705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 佐賀市橋りょう長寿命化修繕計画（令和4年策定）/ 学識経験者: 佐賀大学 伊藤幸広 教授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1000" y="152400"/>
            <a:ext cx="422715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地場建設会社が直面する 3つの壁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895" y="188863"/>
            <a:ext cx="1701105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4401" y="965150"/>
            <a:ext cx="2616250" cy="1703189"/>
          </a:xfrm>
          <a:prstGeom prst="roundRect">
            <a:avLst>
              <a:gd name="adj" fmla="val 4474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44401" y="984200"/>
            <a:ext cx="2616250" cy="0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622102" y="1180951"/>
            <a:ext cx="230606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壁1: 2024年問題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2102" y="1596777"/>
            <a:ext cx="2306065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残業規制が建設業にも適用（月45h・年360h）。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2102" y="2043708"/>
            <a:ext cx="2306065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現場後の書類作成・写真整理が残業の温床</a:t>
            </a: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。経営課題に直結。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63801" y="965150"/>
            <a:ext cx="2616398" cy="1703189"/>
          </a:xfrm>
          <a:prstGeom prst="roundRect">
            <a:avLst>
              <a:gd name="adj" fmla="val 4474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63801" y="984200"/>
            <a:ext cx="2616398" cy="0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3441502" y="1180951"/>
            <a:ext cx="230621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壁2: 技術者の高齢化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41502" y="1596777"/>
            <a:ext cx="2306217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就業者の</a:t>
            </a: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37%が55歳以上</a:t>
            </a: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、29歳以下はわずか12%。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41502" y="2043708"/>
            <a:ext cx="2306217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2035年には技術者約</a:t>
            </a: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3.2万人が不足</a:t>
            </a: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見込み。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83350" y="965150"/>
            <a:ext cx="2616250" cy="1703189"/>
          </a:xfrm>
          <a:prstGeom prst="roundRect">
            <a:avLst>
              <a:gd name="adj" fmla="val 4474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6083350" y="984200"/>
            <a:ext cx="2616250" cy="0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6261050" y="1180951"/>
            <a:ext cx="230606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壁3: i-Construction 2.0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61050" y="1596777"/>
            <a:ext cx="2306065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2026年度から舗装工でICT施工原則化</a:t>
            </a: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61050" y="2043708"/>
            <a:ext cx="2306065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電子納品拡大中。デジタル対応力 = 受注競争力に。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44401" y="2846040"/>
            <a:ext cx="8255198" cy="933450"/>
          </a:xfrm>
          <a:prstGeom prst="rect">
            <a:avLst/>
          </a:prstGeom>
          <a:solidFill>
            <a:srgbClr val="F5EA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63451" y="2846040"/>
            <a:ext cx="0" cy="933450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/>
          <p:nvPr/>
        </p:nvSpPr>
        <p:spPr>
          <a:xfrm>
            <a:off x="607543" y="2998440"/>
            <a:ext cx="79670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「あの図面どこ？」「あの判断は○○さんしか知らない」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07543" y="3312765"/>
            <a:ext cx="79670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これが日常になっていませんか？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1000" y="152400"/>
            <a:ext cx="386297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なぜ「3者連携」が必要なのか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895" y="188863"/>
            <a:ext cx="1701105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4401" y="939701"/>
            <a:ext cx="8420302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橋梁の維持管理は </a:t>
            </a:r>
            <a:r>
              <a:rPr lang="en-US" sz="13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自治体 → 補修設計会社 → 地場建設会社 → 自治体</a:t>
            </a:r>
            <a:r>
              <a:rPr lang="en-US" sz="13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のサイクル。1社だけDX化しても、データが繋がらなければ効果は限定的です。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401" y="1528614"/>
          <a:ext cx="8255199" cy="2155776"/>
        </p:xfrm>
        <a:graphic>
          <a:graphicData uri="http://schemas.openxmlformats.org/drawingml/2006/table">
            <a:tbl>
              <a:tblPr/>
              <a:tblGrid>
                <a:gridCol w="4458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6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6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単独DXの限界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3者連携で得られる効果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6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自治体だけDX化しても、設計・施工の成果物がアナログだとデータが活きない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点検→設計→施工→次回点検へと</a:t>
                      </a: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データが「川のように流れる」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4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建設会社だけDX化しても、自治体がアナログだと結局紙で提出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自治体監督員のチェック業務も</a:t>
                      </a: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同時に効率化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各社が個別にツール導入すると重複・断絶が生まれる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CiviLinkが</a:t>
                      </a: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「共通言語（図面ベース）」</a:t>
                      </a:r>
                      <a:r>
                        <a:rPr lang="en-US" sz="13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になる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44401" y="3816102"/>
            <a:ext cx="8255198" cy="532805"/>
          </a:xfrm>
          <a:prstGeom prst="rect">
            <a:avLst/>
          </a:prstGeom>
          <a:solidFill>
            <a:srgbClr val="F5EA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463451" y="3816102"/>
            <a:ext cx="0" cy="532805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6"/>
          <p:cNvSpPr/>
          <p:nvPr/>
        </p:nvSpPr>
        <p:spPr>
          <a:xfrm>
            <a:off x="634901" y="3917603"/>
            <a:ext cx="8070544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佐賀市橋りょう長寿命化修繕計画の基本方針「データ管理方法の検討」「職員が円滑に維持管理できる体制構築」「技術継承の仕組みの構築」に合致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253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11088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1000" y="126950"/>
            <a:ext cx="46541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スタートアップの力で「安く・早く」始める</a:t>
            </a:r>
            <a:endParaRPr lang="en-US" sz="1800" dirty="0"/>
          </a:p>
        </p:txBody>
      </p:sp>
      <p:pic>
        <p:nvPicPr>
          <p:cNvPr id="5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636" y="133350"/>
            <a:ext cx="1579364" cy="3301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7450" y="701576"/>
            <a:ext cx="86792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大手ツールだけでなく、</a:t>
            </a:r>
            <a:r>
              <a:rPr lang="en-US" sz="9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地場建設会社の規模・予算に合ったスタートアップ製品</a:t>
            </a: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を厳選。全てNETIS or 国交省カタログ掲載技術。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17450" y="923776"/>
            <a:ext cx="42424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 err="1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橋梁点検・補修設計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7450" y="1171426"/>
          <a:ext cx="4159299" cy="1560195"/>
        </p:xfrm>
        <a:graphic>
          <a:graphicData uri="http://schemas.openxmlformats.org/drawingml/2006/table">
            <a:tbl>
              <a:tblPr/>
              <a:tblGrid>
                <a:gridCol w="92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ツール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7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アレリオ橋梁点検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約1万円/橋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タブレット直営点検→調書自動生成。外注(20万/橋)の1/20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Dr.Bridge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2万円/橋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写真→AI診断(正答率92.9%)→調書+補修工法ガイド。初期費用0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Markly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(DataLabs)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要問合せ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スマホ→3D損傷図→数量計算書。コスト73%減。国交省DX大賞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6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タテログ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従量課金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過去調書を学習→新規調書自動生成。内業70%削減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17450" y="2885182"/>
            <a:ext cx="42424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道路点検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935691"/>
              </p:ext>
            </p:extLst>
          </p:nvPr>
        </p:nvGraphicFramePr>
        <p:xfrm>
          <a:off x="317450" y="3132832"/>
          <a:ext cx="4159300" cy="1224915"/>
        </p:xfrm>
        <a:graphic>
          <a:graphicData uri="http://schemas.openxmlformats.org/drawingml/2006/table">
            <a:tbl>
              <a:tblPr/>
              <a:tblGrid>
                <a:gridCol w="1106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ツール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7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RoadManager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(東大発)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無料トライアル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スマホ車載→AIが路面損傷リアルタイム検出。40+自治体導入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DRIMS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専用車の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1/20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スマホでIRI計測。国交省精度ランキング全14社中1位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My City Report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完全無料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市民通報アプリ。東京・神奈川など40+自治体導入済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667250" y="923776"/>
            <a:ext cx="42424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補修工事</a:t>
            </a:r>
            <a:endParaRPr lang="en-US" sz="11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7250" y="1171426"/>
          <a:ext cx="4159299" cy="1224915"/>
        </p:xfrm>
        <a:graphic>
          <a:graphicData uri="http://schemas.openxmlformats.org/drawingml/2006/table">
            <a:tbl>
              <a:tblPr/>
              <a:tblGrid>
                <a:gridCol w="1098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5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ツール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7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Hatsuly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(DataLabs)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77,000円/月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スマホ3Dスキャン→はつり深さ・体積自動計測→報告書生成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施工計画書AI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(NITACO)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ベータ無料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設計図書→AIが施工計画書初稿を自動生成。29業種対応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Cheez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初回無料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AI-OCRで黒板読取→工事写真台帳を自動生成。時間93%削減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4667250" y="2883425"/>
            <a:ext cx="42424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品質管理</a:t>
            </a:r>
            <a:endParaRPr lang="en-US" sz="110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21461"/>
              </p:ext>
            </p:extLst>
          </p:nvPr>
        </p:nvGraphicFramePr>
        <p:xfrm>
          <a:off x="4667250" y="3131075"/>
          <a:ext cx="4159300" cy="1224915"/>
        </p:xfrm>
        <a:graphic>
          <a:graphicData uri="http://schemas.openxmlformats.org/drawingml/2006/table">
            <a:tbl>
              <a:tblPr/>
              <a:tblGrid>
                <a:gridCol w="953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0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ツール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7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SiteBox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(KENTEM)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13,200円/年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スマホで出来形・品質入力+電子黒板。土木専用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Modely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(DataLabs)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要問合せ(80%省力)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スマホ3D配筋検査→鉄筋径・ピッチ自動計測→設計値照合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SmartRock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約1〜10万円/個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コンクリート埋設温度センサー→養生管理→強度推定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8"/>
          <p:cNvSpPr/>
          <p:nvPr/>
        </p:nvSpPr>
        <p:spPr>
          <a:xfrm>
            <a:off x="317450" y="4441924"/>
            <a:ext cx="8509099" cy="298252"/>
          </a:xfrm>
          <a:prstGeom prst="rect">
            <a:avLst/>
          </a:prstGeom>
          <a:solidFill>
            <a:srgbClr val="F5EA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6975" y="4441924"/>
            <a:ext cx="0" cy="298252"/>
          </a:xfrm>
          <a:prstGeom prst="line">
            <a:avLst/>
          </a:prstGeom>
          <a:noFill/>
          <a:ln w="1905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0"/>
          <p:cNvSpPr/>
          <p:nvPr/>
        </p:nvSpPr>
        <p:spPr>
          <a:xfrm>
            <a:off x="355131" y="4523139"/>
            <a:ext cx="84527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大手一択ではない。Cランク建設会社の予算に合うスタートアップを、マルメが選定・導入支援します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1000" y="152400"/>
            <a:ext cx="58593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提案: 3者連携モデル ― CiviLinkが横串を通す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895" y="188863"/>
            <a:ext cx="1701105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948" y="939701"/>
            <a:ext cx="2349401" cy="1062038"/>
          </a:xfrm>
          <a:prstGeom prst="roundRect">
            <a:avLst>
              <a:gd name="adj" fmla="val 7175"/>
            </a:avLst>
          </a:prstGeom>
          <a:solidFill>
            <a:srgbClr val="E8D5D3"/>
          </a:solidFill>
          <a:ln w="19050">
            <a:solidFill>
              <a:srgbClr val="C2706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43099" y="1111151"/>
            <a:ext cx="1943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佐賀市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3099" y="1419076"/>
            <a:ext cx="194310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8A7C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2,842橋の管理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43099" y="1556147"/>
            <a:ext cx="194310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8A7C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900橋を自前点検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3099" y="1693218"/>
            <a:ext cx="194310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8A7C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補修設計発注・監督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016300" y="1323082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8A7C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397300" y="939701"/>
            <a:ext cx="2349401" cy="1062038"/>
          </a:xfrm>
          <a:prstGeom prst="roundRect">
            <a:avLst>
              <a:gd name="adj" fmla="val 7175"/>
            </a:avLst>
          </a:prstGeom>
          <a:solidFill>
            <a:srgbClr val="F5F0F0"/>
          </a:solidFill>
          <a:ln w="19050">
            <a:solidFill>
              <a:srgbClr val="8A7C7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600450" y="1111151"/>
            <a:ext cx="1943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C484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補修設計会社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00450" y="1419076"/>
            <a:ext cx="194310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8A7C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補修設計図面作成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00450" y="1556147"/>
            <a:ext cx="194310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8A7C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数量計算書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600450" y="1693218"/>
            <a:ext cx="194310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8A7C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照査対応・納品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73651" y="1323082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8A7C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254651" y="939701"/>
            <a:ext cx="2349401" cy="1062038"/>
          </a:xfrm>
          <a:prstGeom prst="roundRect">
            <a:avLst>
              <a:gd name="adj" fmla="val 7175"/>
            </a:avLst>
          </a:prstGeom>
          <a:solidFill>
            <a:srgbClr val="F5EAEA"/>
          </a:solidFill>
          <a:ln w="19050">
            <a:solidFill>
              <a:srgbClr val="E8B4B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457801" y="1111151"/>
            <a:ext cx="1943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地場建設会社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57801" y="1419076"/>
            <a:ext cx="194310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8A7C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補修工事実施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57801" y="1556147"/>
            <a:ext cx="194310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8A7C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段階確認・打合簿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57801" y="1693218"/>
            <a:ext cx="194310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dirty="0">
                <a:solidFill>
                  <a:srgbClr val="8A7C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完成図書作成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44401" y="2154138"/>
            <a:ext cx="8255198" cy="974080"/>
          </a:xfrm>
          <a:prstGeom prst="roundRect">
            <a:avLst>
              <a:gd name="adj" fmla="val 10430"/>
            </a:avLst>
          </a:prstGeom>
          <a:solidFill>
            <a:srgbClr val="3C3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20828" y="2331839"/>
            <a:ext cx="79023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CiviLink ― DATA PLATFORM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20828" y="2620714"/>
            <a:ext cx="790234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8B4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点検データ → 設計データ → 施工データ → 完成図書 → 次回点検の起点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0828" y="2785616"/>
            <a:ext cx="7902345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8B4B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蔵衛門 / LINE WORKS / クラウドサイン を横串連携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44401" y="3280618"/>
            <a:ext cx="2650034" cy="752326"/>
          </a:xfrm>
          <a:prstGeom prst="roundRect">
            <a:avLst>
              <a:gd name="adj" fmla="val 10129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47390" y="3407569"/>
            <a:ext cx="24440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3者が同じ図面を見る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47390" y="3705969"/>
            <a:ext cx="24440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図面ベースの「単一の真実」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246834" y="3280618"/>
            <a:ext cx="2650182" cy="752326"/>
          </a:xfrm>
          <a:prstGeom prst="roundRect">
            <a:avLst>
              <a:gd name="adj" fmla="val 10129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349822" y="3407569"/>
            <a:ext cx="24442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データが流れる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349822" y="3705969"/>
            <a:ext cx="24442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点検→設計→施工→完成図書が一気通貫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049417" y="3280618"/>
            <a:ext cx="2650182" cy="752326"/>
          </a:xfrm>
          <a:prstGeom prst="roundRect">
            <a:avLst>
              <a:gd name="adj" fmla="val 10129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152404" y="3407569"/>
            <a:ext cx="24442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既存ツールを束ねる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152404" y="3705969"/>
            <a:ext cx="24442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使い慣れたツールと連携。新規開発不要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1000" y="152400"/>
            <a:ext cx="426819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CiviLinkがもたらす 3つの価値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895" y="188863"/>
            <a:ext cx="1701105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4401" y="939701"/>
            <a:ext cx="2616250" cy="2424559"/>
          </a:xfrm>
          <a:prstGeom prst="roundRect">
            <a:avLst>
              <a:gd name="adj" fmla="val 3143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44401" y="958751"/>
            <a:ext cx="2616250" cy="0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622102" y="1155502"/>
            <a:ext cx="243854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探す時間をゼロにする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2102" y="1571327"/>
            <a:ext cx="2260848" cy="153903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図面・書類・写真・指摘・承認履歴が</a:t>
            </a: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全て図面に紐付いて一元管理</a:t>
            </a:r>
            <a:endParaRPr lang="en-US" sz="1200" dirty="0"/>
          </a:p>
          <a:p>
            <a:pPr marL="101600" indent="-1016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「あの図面どこ？」がワンクリックで解決</a:t>
            </a:r>
            <a:endParaRPr lang="en-US" sz="1200" dirty="0"/>
          </a:p>
          <a:p>
            <a:pPr marL="101600" indent="-1016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過去の補修履歴・指摘履歴が検索可能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63801" y="939701"/>
            <a:ext cx="2616398" cy="2424559"/>
          </a:xfrm>
          <a:prstGeom prst="roundRect">
            <a:avLst>
              <a:gd name="adj" fmla="val 3143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263801" y="958751"/>
            <a:ext cx="2616398" cy="0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3441502" y="1155502"/>
            <a:ext cx="230621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承認待ちをなくす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41502" y="1571327"/>
            <a:ext cx="2260997" cy="134094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自治体⇔施工会社の照査・承認を</a:t>
            </a: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リアルタイム化</a:t>
            </a:r>
            <a:endParaRPr lang="en-US" sz="1200" dirty="0"/>
          </a:p>
          <a:p>
            <a:pPr marL="101600" indent="-1016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紙・FAX・メールの往復、押印待ちを排除</a:t>
            </a:r>
            <a:endParaRPr lang="en-US" sz="1200" dirty="0"/>
          </a:p>
          <a:p>
            <a:pPr marL="101600" indent="-1016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段階確認・材料承認・打合簿が画面上で完結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83350" y="939701"/>
            <a:ext cx="2616250" cy="2424559"/>
          </a:xfrm>
          <a:prstGeom prst="roundRect">
            <a:avLst>
              <a:gd name="adj" fmla="val 3143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6083350" y="958751"/>
            <a:ext cx="2616250" cy="0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/>
          <p:nvPr/>
        </p:nvSpPr>
        <p:spPr>
          <a:xfrm>
            <a:off x="6261050" y="1155502"/>
            <a:ext cx="230606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記録が勝手に残る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61050" y="1571327"/>
            <a:ext cx="2260848" cy="134094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照査・承認の履歴が</a:t>
            </a: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自動的に監査証跡として蓄積</a:t>
            </a:r>
            <a:endParaRPr lang="en-US" sz="1200" dirty="0"/>
          </a:p>
          <a:p>
            <a:pPr marL="101600" indent="-1016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完成図書のベースデータが施工中に自然と完成</a:t>
            </a:r>
            <a:endParaRPr lang="en-US" sz="1200" dirty="0"/>
          </a:p>
          <a:p>
            <a:pPr marL="101600" indent="-101600" algn="l">
              <a:lnSpc>
                <a:spcPts val="156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ベテランの判断ログが</a:t>
            </a:r>
            <a:r>
              <a:rPr lang="en-US" sz="12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技術継承の資産</a:t>
            </a: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39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3966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1000" y="126950"/>
            <a:ext cx="38347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1: すぐ始められること</a:t>
            </a:r>
            <a:endParaRPr lang="en-US" sz="2000" dirty="0"/>
          </a:p>
        </p:txBody>
      </p:sp>
      <p:pic>
        <p:nvPicPr>
          <p:cNvPr id="5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636" y="147638"/>
            <a:ext cx="1579364" cy="3301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730151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既にある良いツールを組合せてすぐに効果を出す</a:t>
            </a: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。大手だけでなくスタートアップも活用し、コストを抑えます。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81000" y="980926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基本パッケージ（月額 約2万円/社から）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228576"/>
          <a:ext cx="8382000" cy="1390650"/>
        </p:xfrm>
        <a:graphic>
          <a:graphicData uri="http://schemas.openxmlformats.org/drawingml/2006/table">
            <a:tbl>
              <a:tblPr/>
              <a:tblGrid>
                <a:gridCol w="1003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7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7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3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推奨ツール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チャット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LINE WORKS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500〜800円/人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現場⇔事務所⇔自治体の連絡集約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写真管理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蔵衛門（無料プランあり）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0〜660円/人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AI自動仕分け+台帳生成+電子納品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施工管理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現場Plus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10,000円/月(60人)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打合簿・段階確認のデジタルWF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電子契約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クラウドサイン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10,000円/社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契約書・請求書の電子化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図面基盤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CiviLink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10,000円/人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上記すべてを図面で横串連携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81000" y="2796747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点検・補修の追加メニュー（従量課金 = 使った分だけ）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649208"/>
              </p:ext>
            </p:extLst>
          </p:nvPr>
        </p:nvGraphicFramePr>
        <p:xfrm>
          <a:off x="381000" y="3044397"/>
          <a:ext cx="8382001" cy="1162050"/>
        </p:xfrm>
        <a:graphic>
          <a:graphicData uri="http://schemas.openxmlformats.org/drawingml/2006/table">
            <a:tbl>
              <a:tblPr/>
              <a:tblGrid>
                <a:gridCol w="922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14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業務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推奨ツール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コスト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3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橋梁点検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アレリオ or Dr.Bridge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1〜2万円/橋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外注20万円/橋の1/10〜1/20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道路点検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RoadManager + My City Report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無料トライアル〜月額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スマホ1台+市民の目で全線カバー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品質管理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SiteBox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13,200円/年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スマホで出来形・品質データ入力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1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書類生成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NITACO施工計画書AI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ベータ無料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設計図書→施工計画書を自動生成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381000" y="4211358"/>
            <a:ext cx="8382000" cy="423863"/>
          </a:xfrm>
          <a:prstGeom prst="rect">
            <a:avLst/>
          </a:prstGeom>
          <a:solidFill>
            <a:srgbClr val="F5EA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400050" y="4211358"/>
            <a:ext cx="0" cy="423863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8"/>
          <p:cNvSpPr/>
          <p:nvPr/>
        </p:nvSpPr>
        <p:spPr>
          <a:xfrm>
            <a:off x="546050" y="4274759"/>
            <a:ext cx="825179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1（即日〜）写真+チャット+施工管理 → Step 2（1ヶ月〜）橋梁点検DX+電子契約 → Step 3（3ヶ月〜）道路AI点検+品質管理DX → Step 4（6ヶ月〜）GNSS測量・i-Con対応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39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3966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1000" y="126950"/>
            <a:ext cx="496477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書類管理の効率化｜CiviLinkメニュ</a:t>
            </a:r>
            <a:r>
              <a:rPr lang="en-US" sz="20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ー</a:t>
            </a:r>
            <a:endParaRPr lang="en-US" sz="2000" dirty="0"/>
          </a:p>
        </p:txBody>
      </p:sp>
      <p:pic>
        <p:nvPicPr>
          <p:cNvPr id="5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636" y="147638"/>
            <a:ext cx="1579364" cy="3301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755452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長寿命化計画の3つの方針と直結するメニューを優先提案します。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031677"/>
          <a:ext cx="8382000" cy="2386904"/>
        </p:xfrm>
        <a:graphic>
          <a:graphicData uri="http://schemas.openxmlformats.org/drawingml/2006/table">
            <a:tbl>
              <a:tblPr/>
              <a:tblGrid>
                <a:gridCol w="1743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6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8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長寿命化計画の方針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CiviLinkメニュー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対象者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想定効果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215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データ管理方法の検討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補修工事の承認ワークフロー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自治体 / 建設会社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承認待ち時間 </a:t>
                      </a: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50%削減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977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電子納品フォルダ構成チェック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建設会社 / 設計会社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納品準備工数 </a:t>
                      </a: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70%削減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977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職員が円滑に維持管理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できる体制構築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図面⇔数量計算書の整合性チェック (AI)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自治体 / 設計会社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内部チェック工数 </a:t>
                      </a: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50%削減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977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出来形管理値の規格値チェック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自治体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監督員チェック負担軽減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977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チェックリストテンプレート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自治体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確認漏れゼロ化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977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技術継承の仕組みの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構築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施工計画書の自動照査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自治体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照査業務 </a:t>
                      </a: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50%削減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977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積算ミス検知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自治体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異常値の自動検出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81000" y="3499545"/>
            <a:ext cx="8382000" cy="298252"/>
          </a:xfrm>
          <a:prstGeom prst="rect">
            <a:avLst/>
          </a:prstGeom>
          <a:solidFill>
            <a:srgbClr val="F5EA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400050" y="3499545"/>
            <a:ext cx="0" cy="298252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6"/>
          <p:cNvSpPr/>
          <p:nvPr/>
        </p:nvSpPr>
        <p:spPr>
          <a:xfrm>
            <a:off x="520601" y="3562945"/>
            <a:ext cx="83037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太字</a:t>
            </a: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= 特に効果インパクトの大きいメニュー。Phase 1~2で優先的に導入・検証を推奨。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39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3966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1000" y="126950"/>
            <a:ext cx="396536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3者 x フェーズ 統合マトリクス</a:t>
            </a:r>
            <a:endParaRPr lang="en-US" sz="2000" dirty="0"/>
          </a:p>
        </p:txBody>
      </p:sp>
      <p:pic>
        <p:nvPicPr>
          <p:cNvPr id="5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636" y="147638"/>
            <a:ext cx="1579364" cy="330101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7450" y="755452"/>
          <a:ext cx="8509099" cy="2596515"/>
        </p:xfrm>
        <a:graphic>
          <a:graphicData uri="http://schemas.openxmlformats.org/drawingml/2006/table">
            <a:tbl>
              <a:tblPr/>
              <a:tblGrid>
                <a:gridCol w="711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1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7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1（即導入）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4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2（3~6ヶ月）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3（将来）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7C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283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自治体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一元管理 + 図面閲覧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アレリオ or Dr.Bridge(点検)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RoadManager(道路AI)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My City Report(市民通報/無料)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チェックリストTP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出来形規格値チェック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電子納品構成チェック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DRIMS(舗装計画策定)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仕様書ドラフトAI生成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積算ミス検知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施工計画書自動照査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555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承認WF + 打合簿デジタル化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15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補修設計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会社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照査 + 指摘管理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バージョン管理・差分比較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数量整合チェック(AI)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Markly(3D損傷図→数量)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積算AI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555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電子納品自動構成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045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地場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建設会社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クラウド管理 + 閲覧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蔵衛門(写真/無料) + LINE WORKS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現場Plus(施工管理/1万円/月)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SiteBox(品質管理/1.3万円/年)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Hatsuly(補修3D検査)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Modely(配筋検査)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SmartRock(養生管理)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Cheez(写真台帳AI)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施工計画書自動照査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GNSS/RTK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2D-MG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385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承認WF / 補助金サポート
</a:t>
                      </a: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NITACO施工計画書AI(無料)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外部: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 iPad点群 / ScanX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17450" y="3292078"/>
            <a:ext cx="8509099" cy="209550"/>
          </a:xfrm>
          <a:prstGeom prst="roundRect">
            <a:avLst>
              <a:gd name="adj" fmla="val 18182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93650" y="3330178"/>
            <a:ext cx="85238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</a:t>
            </a:r>
            <a:r>
              <a:rPr lang="en-US" sz="7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= CiviLink機能 / </a:t>
            </a:r>
            <a:r>
              <a:rPr lang="en-US" sz="7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</a:t>
            </a:r>
            <a:r>
              <a:rPr lang="en-US" sz="7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= パートナー連携。太字は特にスタートアップ製品（低コスト・導入容易）。国交省「建設系スタートアップ技術カタログ」(2026/4公開)掲載技術を優先選定。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39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3966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0999" y="126950"/>
            <a:ext cx="512321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 err="1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参考｜補助金活用で実質負担を最小化</a:t>
            </a:r>
            <a:endParaRPr lang="en-US" sz="2000" dirty="0"/>
          </a:p>
        </p:txBody>
      </p:sp>
      <p:pic>
        <p:nvPicPr>
          <p:cNvPr id="5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636" y="147638"/>
            <a:ext cx="1579364" cy="3301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780901"/>
            <a:ext cx="41453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活用可能な補助金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114276"/>
          <a:ext cx="4064051" cy="1524060"/>
        </p:xfrm>
        <a:graphic>
          <a:graphicData uri="http://schemas.openxmlformats.org/drawingml/2006/table">
            <a:tbl>
              <a:tblPr/>
              <a:tblGrid>
                <a:gridCol w="1914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0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5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補助金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補助率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上限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佐賀県 建設DX加速化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2/3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ICT建機600万 / ICT機器300万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デジタル化・AI導入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（旧IT導入補助金）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1/2~4/5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最大450万円 / クラウド2年分可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ものづくり補助金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1/2~2/3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最大1,250万円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81000" y="2807567"/>
            <a:ext cx="41453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シミュレーション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81000" y="3140942"/>
            <a:ext cx="4064050" cy="862757"/>
          </a:xfrm>
          <a:prstGeom prst="roundRect">
            <a:avLst>
              <a:gd name="adj" fmla="val 5888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3242443"/>
            <a:ext cx="388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パッケージA: 最小構成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7950" y="3521793"/>
            <a:ext cx="388635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 + クラウド + 写真アプリ + 電子契約 = </a:t>
            </a: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月額 約3万円/社</a:t>
            </a:r>
            <a:endParaRPr lang="en-US" sz="1000" dirty="0"/>
          </a:p>
        </p:txBody>
      </p:sp>
      <p:sp>
        <p:nvSpPr>
          <p:cNvPr id="7" name="Text 8"/>
          <p:cNvSpPr/>
          <p:nvPr/>
        </p:nvSpPr>
        <p:spPr>
          <a:xfrm>
            <a:off x="507950" y="3711995"/>
            <a:ext cx="388635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IT導入補助金で</a:t>
            </a: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2年分カバー可能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81000" y="4105199"/>
            <a:ext cx="4064050" cy="862757"/>
          </a:xfrm>
          <a:prstGeom prst="roundRect">
            <a:avLst>
              <a:gd name="adj" fmla="val 5888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07950" y="4206700"/>
            <a:ext cx="388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パッケージB: 点検・測量強化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07950" y="4486051"/>
            <a:ext cx="388635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ドローン80万 + GNSS250万 + ソフト50万 = </a:t>
            </a: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380万円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07950" y="4676253"/>
            <a:ext cx="388635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佐賀県補助(2/3) → 補助 </a:t>
            </a: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約253万円</a:t>
            </a: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/ 自己負担: </a:t>
            </a: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約127万円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698950" y="3315146"/>
            <a:ext cx="41453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段階別投資ロードマップ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698950" y="3724721"/>
            <a:ext cx="1286917" cy="1291828"/>
          </a:xfrm>
          <a:prstGeom prst="roundRect">
            <a:avLst>
              <a:gd name="adj" fmla="val 3947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4698950" y="3743771"/>
            <a:ext cx="1286917" cy="0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6"/>
          <p:cNvSpPr/>
          <p:nvPr/>
        </p:nvSpPr>
        <p:spPr>
          <a:xfrm>
            <a:off x="4737847" y="3864322"/>
            <a:ext cx="12091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1（1年目）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37847" y="4061073"/>
            <a:ext cx="12091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~70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4737847" y="4327773"/>
            <a:ext cx="1209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万円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737847" y="4553099"/>
            <a:ext cx="12091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投資200万 - 補助130万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6087368" y="3724721"/>
            <a:ext cx="1287066" cy="1291828"/>
          </a:xfrm>
          <a:prstGeom prst="roundRect">
            <a:avLst>
              <a:gd name="adj" fmla="val 3947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6087368" y="3743771"/>
            <a:ext cx="1287066" cy="0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2"/>
          <p:cNvSpPr/>
          <p:nvPr/>
        </p:nvSpPr>
        <p:spPr>
          <a:xfrm>
            <a:off x="6126263" y="3864322"/>
            <a:ext cx="12092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2（2年目）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126263" y="4061073"/>
            <a:ext cx="12092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~130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6126263" y="4327773"/>
            <a:ext cx="12092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万円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126263" y="4553099"/>
            <a:ext cx="12092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投資400万 - 補助270万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7475934" y="3724721"/>
            <a:ext cx="1287066" cy="1291828"/>
          </a:xfrm>
          <a:prstGeom prst="roundRect">
            <a:avLst>
              <a:gd name="adj" fmla="val 3947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7"/>
          <p:cNvSpPr/>
          <p:nvPr/>
        </p:nvSpPr>
        <p:spPr>
          <a:xfrm>
            <a:off x="7475934" y="3743771"/>
            <a:ext cx="1287066" cy="0"/>
          </a:xfrm>
          <a:prstGeom prst="line">
            <a:avLst/>
          </a:prstGeom>
          <a:noFill/>
          <a:ln w="38100">
            <a:solidFill>
              <a:srgbClr val="3C38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8"/>
          <p:cNvSpPr/>
          <p:nvPr/>
        </p:nvSpPr>
        <p:spPr>
          <a:xfrm>
            <a:off x="7514829" y="3864322"/>
            <a:ext cx="12092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3（3年目~）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514829" y="4061073"/>
            <a:ext cx="12092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回収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7514829" y="4403973"/>
            <a:ext cx="12092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i-Con受注で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514829" y="4629299"/>
            <a:ext cx="12092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デジタル対応力が受注競争力に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39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3966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1000" y="126950"/>
            <a:ext cx="49985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POC計画: 1橋で3者一気通貫を実証</a:t>
            </a:r>
            <a:endParaRPr lang="en-US" sz="2000" dirty="0"/>
          </a:p>
        </p:txBody>
      </p:sp>
      <p:pic>
        <p:nvPicPr>
          <p:cNvPr id="5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636" y="147638"/>
            <a:ext cx="1579364" cy="3301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780901"/>
            <a:ext cx="41453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POC概要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114276"/>
          <a:ext cx="4064050" cy="1048345"/>
        </p:xfrm>
        <a:graphic>
          <a:graphicData uri="http://schemas.openxmlformats.org/drawingml/2006/table">
            <a:tbl>
              <a:tblPr/>
              <a:tblGrid>
                <a:gridCol w="836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7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5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2026年5月~2027年3月（11ヶ月）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Cランク以下の地場建設会社 1~2社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対象橋梁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補修工事予定の橋梁 数橋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導入構成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写真アプリ + チャット + AI点検 + CiviLink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81000" y="2294334"/>
            <a:ext cx="4145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</a:t>
            </a:r>
            <a:endParaRPr lang="en-US" sz="14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2580084"/>
          <a:ext cx="4064049" cy="1613148"/>
        </p:xfrm>
        <a:graphic>
          <a:graphicData uri="http://schemas.openxmlformats.org/drawingml/2006/table">
            <a:tbl>
              <a:tblPr/>
              <a:tblGrid>
                <a:gridCol w="991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5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領域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指標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目標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点検効率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調書作成時間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50%削減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2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設計効率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照査やり取り日数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30%削減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2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施工効率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打合簿の往復時間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70%削減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2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残業時間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月20h削減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2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自治体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監督員チェック時間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30%削減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698950" y="780901"/>
            <a:ext cx="41453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段階スケジュール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4718000" y="1114276"/>
            <a:ext cx="0" cy="686693"/>
          </a:xfrm>
          <a:prstGeom prst="line">
            <a:avLst/>
          </a:prstGeom>
          <a:noFill/>
          <a:ln w="38100">
            <a:solidFill>
              <a:srgbClr val="5C484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7"/>
          <p:cNvSpPr/>
          <p:nvPr/>
        </p:nvSpPr>
        <p:spPr>
          <a:xfrm>
            <a:off x="4889450" y="1190476"/>
            <a:ext cx="395102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8A7C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 5~6月</a:t>
            </a:r>
            <a:endParaRPr lang="en-US" sz="900" dirty="0"/>
          </a:p>
        </p:txBody>
      </p:sp>
      <p:sp>
        <p:nvSpPr>
          <p:cNvPr id="7" name="Text 8"/>
          <p:cNvSpPr/>
          <p:nvPr/>
        </p:nvSpPr>
        <p:spPr>
          <a:xfrm>
            <a:off x="4889450" y="1352848"/>
            <a:ext cx="39510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既存ツールパッケージ導入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889450" y="1587698"/>
            <a:ext cx="395102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チャット・写真アプリ・クラウドの導入支援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718000" y="1851720"/>
            <a:ext cx="0" cy="686693"/>
          </a:xfrm>
          <a:prstGeom prst="line">
            <a:avLst/>
          </a:prstGeom>
          <a:noFill/>
          <a:ln w="38100">
            <a:solidFill>
              <a:srgbClr val="5C484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1"/>
          <p:cNvSpPr/>
          <p:nvPr/>
        </p:nvSpPr>
        <p:spPr>
          <a:xfrm>
            <a:off x="4889450" y="1927920"/>
            <a:ext cx="395102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8A7C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 7~9月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4889450" y="2090291"/>
            <a:ext cx="39510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点検フェーズでCiviLink活用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889450" y="2325142"/>
            <a:ext cx="395102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損傷記録の図面紐付け、ひびみっけ連携テスト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718000" y="2589163"/>
            <a:ext cx="0" cy="686693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5"/>
          <p:cNvSpPr/>
          <p:nvPr/>
        </p:nvSpPr>
        <p:spPr>
          <a:xfrm>
            <a:off x="4889450" y="2665363"/>
            <a:ext cx="395102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8A7C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 10~12月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889450" y="2827734"/>
            <a:ext cx="39510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設計フェーズで照査WF実証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889450" y="3062585"/>
            <a:ext cx="395102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デジタル照査・指摘管理、数量整合チェックテスト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18000" y="3326606"/>
            <a:ext cx="0" cy="686693"/>
          </a:xfrm>
          <a:prstGeom prst="line">
            <a:avLst/>
          </a:prstGeom>
          <a:noFill/>
          <a:ln w="38100">
            <a:solidFill>
              <a:srgbClr val="8A7C7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9"/>
          <p:cNvSpPr/>
          <p:nvPr/>
        </p:nvSpPr>
        <p:spPr>
          <a:xfrm>
            <a:off x="4889450" y="3402806"/>
            <a:ext cx="395102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8A7C7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 1~3月</a:t>
            </a:r>
            <a:endParaRPr lang="en-US" sz="900" dirty="0"/>
          </a:p>
        </p:txBody>
      </p:sp>
      <p:sp>
        <p:nvSpPr>
          <p:cNvPr id="9" name="Text 20"/>
          <p:cNvSpPr/>
          <p:nvPr/>
        </p:nvSpPr>
        <p:spPr>
          <a:xfrm>
            <a:off x="4889450" y="3565178"/>
            <a:ext cx="39510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施工フェーズで打合簿デジタル化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889450" y="3800029"/>
            <a:ext cx="395102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承認WF・段階確認の検証、電子納品自動構成テスト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698950" y="4064050"/>
            <a:ext cx="4064050" cy="352425"/>
          </a:xfrm>
          <a:prstGeom prst="roundRect">
            <a:avLst>
              <a:gd name="adj" fmla="val 14414"/>
            </a:avLst>
          </a:prstGeom>
          <a:solidFill>
            <a:srgbClr val="3C3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813758" y="4140250"/>
            <a:ext cx="38344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2027年4月~ 包括委託開始 → POC成果を全契約建設会社へ展開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39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3966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0999" y="126950"/>
            <a:ext cx="444490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将来展望: AI活用とデータ蓄積</a:t>
            </a:r>
            <a:endParaRPr lang="en-US" sz="2000" dirty="0"/>
          </a:p>
        </p:txBody>
      </p:sp>
      <p:pic>
        <p:nvPicPr>
          <p:cNvPr id="5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636" y="147638"/>
            <a:ext cx="1579364" cy="3301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780901"/>
            <a:ext cx="41453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CiviLink AI ロードマップ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878442"/>
              </p:ext>
            </p:extLst>
          </p:nvPr>
        </p:nvGraphicFramePr>
        <p:xfrm>
          <a:off x="381000" y="1114276"/>
          <a:ext cx="4064049" cy="2574429"/>
        </p:xfrm>
        <a:graphic>
          <a:graphicData uri="http://schemas.openxmlformats.org/drawingml/2006/table">
            <a:tbl>
              <a:tblPr/>
              <a:tblGrid>
                <a:gridCol w="392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15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AI機能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短期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err="1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AI損傷検出</a:t>
                      </a:r>
                      <a:endParaRPr lang="en-US" sz="1000" dirty="0">
                        <a:solidFill>
                          <a:srgbClr val="333333"/>
                        </a:solidFill>
                        <a:latin typeface="Meiryo" pitchFamily="34" charset="0"/>
                        <a:ea typeface="Meiryo" pitchFamily="34" charset="-122"/>
                        <a:cs typeface="Meiryo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（ひびみっけ連携）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損傷図を図面に自動マッピング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図面⇔数量整合チェック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AI+OCRで食い違いを自動検出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出来形規格値チェック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測定値→基準値の自動OK/NG判定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長期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施工計画書の自動照査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必須記載事項の網羅性チェック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長期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積算ミス検知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過去データとの比較で異常値検出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698950" y="780901"/>
            <a:ext cx="41453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データ蓄積が生む価値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698950" y="1114276"/>
            <a:ext cx="4064050" cy="812155"/>
          </a:xfrm>
          <a:prstGeom prst="roundRect">
            <a:avLst>
              <a:gd name="adj" fmla="val 6255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825901" y="1215777"/>
            <a:ext cx="388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ベテランの知見をAIが学習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25901" y="1495127"/>
            <a:ext cx="388635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照査コメント・修正履歴・却下理由こそがAI再現の最重要データ。判断ログが若手技術者の意思決定を支援。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698950" y="2027932"/>
            <a:ext cx="4064050" cy="812155"/>
          </a:xfrm>
          <a:prstGeom prst="roundRect">
            <a:avLst>
              <a:gd name="adj" fmla="val 6255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825901" y="2129433"/>
            <a:ext cx="388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佐賀市の橋梁ナレッジ資産</a:t>
            </a:r>
            <a:endParaRPr lang="en-US" sz="1200" dirty="0"/>
          </a:p>
        </p:txBody>
      </p:sp>
      <p:sp>
        <p:nvSpPr>
          <p:cNvPr id="7" name="Text 10"/>
          <p:cNvSpPr/>
          <p:nvPr/>
        </p:nvSpPr>
        <p:spPr>
          <a:xfrm>
            <a:off x="4825901" y="2408783"/>
            <a:ext cx="388635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2,842橋の点検・補修・指摘の履歴が、佐賀市固有の維持管理ナレッジとして蓄積。次世代への引継ぎ資料に。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698950" y="2941588"/>
            <a:ext cx="4064050" cy="812155"/>
          </a:xfrm>
          <a:prstGeom prst="roundRect">
            <a:avLst>
              <a:gd name="adj" fmla="val 6255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825901" y="3043089"/>
            <a:ext cx="388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FDE伴走（Layer 3）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25901" y="3322439"/>
            <a:ext cx="388635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マルメのエンジニアが現場に入り、AI定着・カスタマイズ・効果測定を伴走支援。IT人材不在の課題を外部で補完。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1000" y="152400"/>
            <a:ext cx="283540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数字で示すインパクト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895" y="188863"/>
            <a:ext cx="1701105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4401" y="914400"/>
            <a:ext cx="8255198" cy="1323677"/>
          </a:xfrm>
          <a:prstGeom prst="roundRect">
            <a:avLst>
              <a:gd name="adj" fmla="val 5757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91338" y="1041350"/>
            <a:ext cx="81613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長寿命化計画 10年費用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1338" y="1276201"/>
            <a:ext cx="816132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41億円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91338" y="1911102"/>
            <a:ext cx="81613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設計9.8億 + 修繕21.2億 + 点検10億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4401" y="2365028"/>
            <a:ext cx="2633216" cy="1225302"/>
          </a:xfrm>
          <a:prstGeom prst="roundRect">
            <a:avLst>
              <a:gd name="adj" fmla="val 6219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44401" y="2384078"/>
            <a:ext cx="2633216" cy="0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547558" y="2530078"/>
            <a:ext cx="242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設計発注の効率化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7558" y="2809429"/>
            <a:ext cx="2426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~3,000万円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47558" y="3291929"/>
            <a:ext cx="24269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/10年（設計費の3%相当）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255318" y="2365028"/>
            <a:ext cx="2633365" cy="1225302"/>
          </a:xfrm>
          <a:prstGeom prst="roundRect">
            <a:avLst>
              <a:gd name="adj" fmla="val 6219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255318" y="2384078"/>
            <a:ext cx="2633365" cy="0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3358473" y="2530078"/>
            <a:ext cx="24270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監督業務の効率化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358473" y="2809429"/>
            <a:ext cx="24270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~1億円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3358473" y="3291929"/>
            <a:ext cx="24270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/10年（工事管理費の5%相当）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66383" y="2365028"/>
            <a:ext cx="2633216" cy="1225302"/>
          </a:xfrm>
          <a:prstGeom prst="roundRect">
            <a:avLst>
              <a:gd name="adj" fmla="val 6219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6066383" y="2384078"/>
            <a:ext cx="2633216" cy="0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6169540" y="2530078"/>
            <a:ext cx="2426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建設会社の残業削減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169540" y="2809429"/>
            <a:ext cx="2426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月20時間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169540" y="3291929"/>
            <a:ext cx="24269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書類・写真整理の時間削減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44401" y="3717280"/>
            <a:ext cx="8255198" cy="431602"/>
          </a:xfrm>
          <a:prstGeom prst="rect">
            <a:avLst/>
          </a:prstGeom>
          <a:solidFill>
            <a:srgbClr val="F5EA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63451" y="3717280"/>
            <a:ext cx="0" cy="431602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/>
          <p:nvPr/>
        </p:nvSpPr>
        <p:spPr>
          <a:xfrm>
            <a:off x="555778" y="3818781"/>
            <a:ext cx="8070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50年間のコスト縮減目標 70億円 に対して、DXによる効率化で年間1,300万円以上のコスト削減効果を見込む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539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3966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1000" y="126950"/>
            <a:ext cx="153079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なぜマルメか</a:t>
            </a:r>
            <a:endParaRPr lang="en-US" sz="2000" dirty="0"/>
          </a:p>
        </p:txBody>
      </p:sp>
      <p:pic>
        <p:nvPicPr>
          <p:cNvPr id="5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636" y="147638"/>
            <a:ext cx="1579364" cy="3301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780901"/>
            <a:ext cx="41453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マルメの強み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1000" y="1114276"/>
            <a:ext cx="4064050" cy="812155"/>
          </a:xfrm>
          <a:prstGeom prst="roundRect">
            <a:avLst>
              <a:gd name="adj" fmla="val 6255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07950" y="1215777"/>
            <a:ext cx="388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土木ドメインの深い理解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7950" y="1495127"/>
            <a:ext cx="388635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土木技術者が約20名在籍</a:t>
            </a: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。技術の言葉で現場と会話できる。ツール提供者ではなく、業務を理解したDXパートナー。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81000" y="2027932"/>
            <a:ext cx="4064050" cy="812155"/>
          </a:xfrm>
          <a:prstGeom prst="roundRect">
            <a:avLst>
              <a:gd name="adj" fmla="val 6255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07950" y="2129433"/>
            <a:ext cx="388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プロダクト力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7950" y="2408783"/>
            <a:ext cx="388635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CiviLinkを自社開発・運用</a:t>
            </a: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。現場のフィードバックを即座にプロダクトに反映。PoC→開発フェーズへの移行率ほぼ100%。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1000" y="2941588"/>
            <a:ext cx="4064050" cy="812155"/>
          </a:xfrm>
          <a:prstGeom prst="roundRect">
            <a:avLst>
              <a:gd name="adj" fmla="val 6255"/>
            </a:avLst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7950" y="3043089"/>
            <a:ext cx="388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7950" y="3322439"/>
            <a:ext cx="388635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既存顧客で</a:t>
            </a: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図面⇔数量チェックの自動化</a:t>
            </a: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を実現。土木分野の導入実績あり。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698950" y="780901"/>
            <a:ext cx="41453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提供体制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98950" y="1114276"/>
          <a:ext cx="4064049" cy="1917651"/>
        </p:xfrm>
        <a:graphic>
          <a:graphicData uri="http://schemas.openxmlformats.org/drawingml/2006/table">
            <a:tbl>
              <a:tblPr/>
              <a:tblGrid>
                <a:gridCol w="1142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5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DXコンサル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3者それぞれの現場に入り、業務分析→ツール選定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5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ツールパッケージ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1から開発せず、市場の良いツールを組合せ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CiviLink提供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3者を繋ぐ図面ベースのデータ基盤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補助金サポート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申請支援で実質負担を最小化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2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FDE伴走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エンジニアが現場常駐に近い形で定着支援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4698950" y="3163639"/>
            <a:ext cx="4064050" cy="812155"/>
          </a:xfrm>
          <a:prstGeom prst="rect">
            <a:avLst/>
          </a:prstGeom>
          <a:solidFill>
            <a:srgbClr val="F5EA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4718000" y="3163639"/>
            <a:ext cx="0" cy="812155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6"/>
          <p:cNvSpPr/>
          <p:nvPr/>
        </p:nvSpPr>
        <p:spPr>
          <a:xfrm>
            <a:off x="4864001" y="3265140"/>
            <a:ext cx="3847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伊藤忠商事との連携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64001" y="3544491"/>
            <a:ext cx="3847490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包括委託スキームの中核DXパートナーとして、</a:t>
            </a: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長期視点</a:t>
            </a: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で佐賀市を伴走。全国横展開のモデルケースを共創。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89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74638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81000" y="168176"/>
            <a:ext cx="229688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 Steps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workspace/slides/assets/mal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895" y="152400"/>
            <a:ext cx="1701105" cy="35555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164385"/>
              </p:ext>
            </p:extLst>
          </p:nvPr>
        </p:nvGraphicFramePr>
        <p:xfrm>
          <a:off x="507950" y="1015008"/>
          <a:ext cx="8128099" cy="2829372"/>
        </p:xfrm>
        <a:graphic>
          <a:graphicData uri="http://schemas.openxmlformats.org/drawingml/2006/table">
            <a:tbl>
              <a:tblPr/>
              <a:tblGrid>
                <a:gridCol w="761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5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アクション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時期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POC対象の建設会社・橋梁を選定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2026年4~5月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8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既存ツールパッケージの導入支援開始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2026年5~6月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8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CiviLink導入・点検フェーズ実証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2026年7~9月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8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設計・施工フェーズへ拡大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2026年10月~2027年3月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8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包括委託本格運用へ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2027年4月~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7950" y="4001542"/>
            <a:ext cx="8128099" cy="460177"/>
          </a:xfrm>
          <a:prstGeom prst="rect">
            <a:avLst/>
          </a:prstGeom>
          <a:solidFill>
            <a:srgbClr val="F5EA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527000" y="4001542"/>
            <a:ext cx="0" cy="460177"/>
          </a:xfrm>
          <a:prstGeom prst="line">
            <a:avLst/>
          </a:prstGeom>
          <a:noFill/>
          <a:ln w="38100">
            <a:solidFill>
              <a:srgbClr val="C270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646405" y="4103043"/>
            <a:ext cx="788929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 1橋 x 3者 で、小さく始めて大きな変化を実証する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1803</Words>
  <Application>Microsoft Macintosh PowerPoint</Application>
  <PresentationFormat>画面に合わせる (16:9)</PresentationFormat>
  <Paragraphs>421</Paragraphs>
  <Slides>16</Slides>
  <Notes>16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19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Malme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佐賀市 橋梁維持管理DX提案</dc:title>
  <dc:subject>PptxGenJS Presentation</dc:subject>
  <dc:creator>Malme inc.</dc:creator>
  <cp:lastModifiedBy>Toshio Noda</cp:lastModifiedBy>
  <cp:revision>2</cp:revision>
  <dcterms:created xsi:type="dcterms:W3CDTF">2026-04-14T05:29:56Z</dcterms:created>
  <dcterms:modified xsi:type="dcterms:W3CDTF">2026-04-14T05:47:31Z</dcterms:modified>
</cp:coreProperties>
</file>