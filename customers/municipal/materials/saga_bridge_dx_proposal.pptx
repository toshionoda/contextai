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datoshio/Documents/contextAI/customers/municipal/materials/slides/assets/malme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99" y="253901"/>
            <a:ext cx="1015901" cy="2122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901" y="1047006"/>
            <a:ext cx="803168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200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橋梁の調査・設計・施工</a:t>
            </a:r>
            <a:endParaRPr lang="en-US" sz="3600" dirty="0"/>
          </a:p>
          <a:p>
            <a:pPr algn="l" indent="0" marL="0">
              <a:lnSpc>
                <a:spcPts val="4320"/>
              </a:lnSpc>
              <a:spcAft>
                <a:spcPts val="200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DX導入提案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34901" y="2398068"/>
            <a:ext cx="80316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既存ICTツール × CiviLink で実現する一気通貫のデジタル化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34901" y="3252043"/>
            <a:ext cx="80316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佐賀市デジタル推進課 様 / 地元建設会社 様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4901" y="3661618"/>
            <a:ext cx="80316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2026.04.20 / 株式会社マルメ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14248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本日の流れ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slides/assets/mal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901" y="1079450"/>
            <a:ext cx="80316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橋梁維持管理のDX導入を、3フェーズで考える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4901" y="1650950"/>
            <a:ext cx="7874198" cy="234121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佐賀市の橋梁維持管理が直面する3つの壁</a:t>
            </a:r>
            <a:endParaRPr lang="en-US" sz="1600" dirty="0"/>
          </a:p>
          <a:p>
            <a:pPr algn="l" marL="190500" indent="-190500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調査・設計・施工で発生するドキュメントと課題</a:t>
            </a:r>
            <a:endParaRPr lang="en-US" sz="1600" dirty="0"/>
          </a:p>
          <a:p>
            <a:pPr algn="l" marL="190500" indent="-190500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DXパッケージ導入：既存ツールですぐ始められること</a:t>
            </a:r>
            <a:endParaRPr lang="en-US" sz="1600" dirty="0"/>
          </a:p>
          <a:p>
            <a:pPr algn="l" marL="190500" indent="-190500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CiviLinkが「横串」になる：一元化のコンセプト</a:t>
            </a:r>
            <a:endParaRPr lang="en-US" sz="1600" dirty="0"/>
          </a:p>
          <a:p>
            <a:pPr algn="l" marL="190500" indent="-190500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調査・設計・施工 DXマトリクス</a:t>
            </a:r>
            <a:endParaRPr lang="en-US" sz="1600" dirty="0"/>
          </a:p>
          <a:p>
            <a:pPr algn="l" marL="190500" indent="-190500">
              <a:lnSpc>
                <a:spcPts val="224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POC計画・補助金活用・将来展望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52878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佐賀市の橋梁維持管理が直面する3つの壁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slides/assets/mal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990600"/>
            <a:ext cx="85496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地場建設会社・自治体監督員 双方の負担増加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457325"/>
            <a:ext cx="2692301" cy="3121075"/>
          </a:xfrm>
          <a:prstGeom prst="rect">
            <a:avLst/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09575" y="1457325"/>
            <a:ext cx="0" cy="3121075"/>
          </a:xfrm>
          <a:prstGeom prst="line">
            <a:avLst/>
          </a:prstGeom>
          <a:noFill/>
          <a:ln w="57150">
            <a:solidFill>
              <a:srgbClr val="C270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5851" y="1635026"/>
            <a:ext cx="232534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 ①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5851" y="1968401"/>
            <a:ext cx="232534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2024年問題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残業できない時代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5851" y="2584252"/>
            <a:ext cx="2279749" cy="116502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時間外労働の上限規制（月45h・年360h）</a:t>
            </a:r>
            <a:endParaRPr lang="en-US" sz="1100" dirty="0"/>
          </a:p>
          <a:p>
            <a:pPr algn="l" marL="88900" indent="-889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点検調書・補修報告書・写真整理が残業の温床</a:t>
            </a:r>
            <a:endParaRPr lang="en-US" sz="1100" dirty="0"/>
          </a:p>
          <a:p>
            <a:pPr algn="l" marL="88900" indent="-889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書類効率化が経営課題に直結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25701" y="1457325"/>
            <a:ext cx="2692450" cy="3121075"/>
          </a:xfrm>
          <a:prstGeom prst="rect">
            <a:avLst/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254276" y="1457325"/>
            <a:ext cx="0" cy="3121075"/>
          </a:xfrm>
          <a:prstGeom prst="line">
            <a:avLst/>
          </a:prstGeom>
          <a:noFill/>
          <a:ln w="57150">
            <a:solidFill>
              <a:srgbClr val="C270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60552" y="1635026"/>
            <a:ext cx="23254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 ②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60552" y="1968401"/>
            <a:ext cx="232549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技術者の高齢化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人材不足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60552" y="2584252"/>
            <a:ext cx="2279898" cy="116502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就業者の37%が55歳以上、29歳以下は12%</a:t>
            </a:r>
            <a:endParaRPr lang="en-US" sz="1100" dirty="0"/>
          </a:p>
          <a:p>
            <a:pPr algn="l" marL="88900" indent="-889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2035年に技術者3.2万人不足</a:t>
            </a:r>
            <a:endParaRPr lang="en-US" sz="1100" dirty="0"/>
          </a:p>
          <a:p>
            <a:pPr algn="l" marL="88900" indent="-889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属人化したノウハウのデジタル化が急務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70550" y="1457325"/>
            <a:ext cx="2692450" cy="3121075"/>
          </a:xfrm>
          <a:prstGeom prst="rect">
            <a:avLst/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099125" y="1457325"/>
            <a:ext cx="0" cy="3121075"/>
          </a:xfrm>
          <a:prstGeom prst="line">
            <a:avLst/>
          </a:prstGeom>
          <a:noFill/>
          <a:ln w="57150">
            <a:solidFill>
              <a:srgbClr val="C270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5401" y="1635026"/>
            <a:ext cx="23254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 ③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05401" y="1968401"/>
            <a:ext cx="232549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i-Construction 2.0</a:t>
            </a:r>
            <a:endParaRPr lang="en-US" sz="14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ICT原則化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05401" y="2536627"/>
            <a:ext cx="2279898" cy="96247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2026年度から舗装工・地盤改良工で原則化</a:t>
            </a:r>
            <a:endParaRPr lang="en-US" sz="1100" dirty="0"/>
          </a:p>
          <a:p>
            <a:pPr algn="l" marL="88900" indent="-889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電子納品の対応範囲拡大</a:t>
            </a:r>
            <a:endParaRPr lang="en-US" sz="1100" dirty="0"/>
          </a:p>
          <a:p>
            <a:pPr algn="l" marL="88900" indent="-88900">
              <a:lnSpc>
                <a:spcPts val="1595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受注競争力に直結する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97180" y="4705350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100" i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特にCランク以下企業は、IT/DX担当不在・Excel+ローカルフォルダ管理が中心。「何から始めればいいか分からない」状態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525638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3フェーズで発生するドキュメントと課題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slides/assets/mal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990600"/>
            <a:ext cx="85496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橋梁1橋の維持管理サイクルで発生する主要ドキュメント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431875"/>
            <a:ext cx="2709267" cy="1440656"/>
          </a:xfrm>
          <a:prstGeom prst="rect">
            <a:avLst/>
          </a:prstGeom>
          <a:solidFill>
            <a:srgbClr val="FFFFFF"/>
          </a:solidFill>
          <a:ln w="9525">
            <a:solidFill>
              <a:srgbClr val="E0D8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90525" y="1441400"/>
            <a:ext cx="2690217" cy="355402"/>
          </a:xfrm>
          <a:prstGeom prst="rect">
            <a:avLst/>
          </a:prstGeom>
          <a:solidFill>
            <a:srgbClr val="3C3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17475" y="1504801"/>
            <a:ext cx="2485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調査（点検）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7475" y="1898303"/>
            <a:ext cx="2436316" cy="82510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点検計画書、巡回ルート図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損傷写真（数百〜数千枚/橋）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損傷展開図、点検調書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自治体への点検報告書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17218" y="1431875"/>
            <a:ext cx="2709416" cy="1440656"/>
          </a:xfrm>
          <a:prstGeom prst="rect">
            <a:avLst/>
          </a:prstGeom>
          <a:solidFill>
            <a:srgbClr val="FFFFFF"/>
          </a:solidFill>
          <a:ln w="9525">
            <a:solidFill>
              <a:srgbClr val="E0D8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226743" y="1441400"/>
            <a:ext cx="2690366" cy="355402"/>
          </a:xfrm>
          <a:prstGeom prst="rect">
            <a:avLst/>
          </a:prstGeom>
          <a:solidFill>
            <a:srgbClr val="3C3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353693" y="1504801"/>
            <a:ext cx="24851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設計（補修設計）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53693" y="1898303"/>
            <a:ext cx="2436465" cy="82510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補修設計図面（CAD）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数量計算書、設計計算書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自治体への照査依頼・回答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設計変更指示・回答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53584" y="1431875"/>
            <a:ext cx="2709416" cy="1440656"/>
          </a:xfrm>
          <a:prstGeom prst="rect">
            <a:avLst/>
          </a:prstGeom>
          <a:solidFill>
            <a:srgbClr val="FFFFFF"/>
          </a:solidFill>
          <a:ln w="9525">
            <a:solidFill>
              <a:srgbClr val="E0D8D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63109" y="1441400"/>
            <a:ext cx="2690366" cy="355402"/>
          </a:xfrm>
          <a:prstGeom prst="rect">
            <a:avLst/>
          </a:prstGeom>
          <a:solidFill>
            <a:srgbClr val="3C3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190059" y="1504801"/>
            <a:ext cx="24851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施工（補修工事）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90059" y="1898303"/>
            <a:ext cx="2436465" cy="82510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施工計画書、特記仕様書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工事打合簿、段階確認、材料承認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出来形管理、品質管理書類</a:t>
            </a:r>
            <a:endParaRPr lang="en-US" sz="1000" dirty="0"/>
          </a:p>
          <a:p>
            <a:pPr algn="l" marL="88900" indent="-889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工事写真、電子納品成果物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81000" y="3024932"/>
            <a:ext cx="8382000" cy="1047304"/>
          </a:xfrm>
          <a:prstGeom prst="rect">
            <a:avLst/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404813" y="3024932"/>
            <a:ext cx="0" cy="1047304"/>
          </a:xfrm>
          <a:prstGeom prst="line">
            <a:avLst/>
          </a:prstGeom>
          <a:noFill/>
          <a:ln w="47625">
            <a:solidFill>
              <a:srgbClr val="C2706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6326" y="3151882"/>
            <a:ext cx="81385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共通する3つの構造的問題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6326" y="3412182"/>
            <a:ext cx="7978973" cy="5331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書類が散在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：フォルダ・USB・紙キャビネット・メールに散らばる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やり取りが断絶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：自治体⇔施工会社⇔設計者の連絡がメール・FAX・電話・対面に分散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buSzPct val="100000"/>
              <a:buChar char="•"/>
            </a:pPr>
            <a:r>
              <a:rPr lang="en-US" sz="10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データが流れない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：調査データが設計に活きず、設計データが施工に活きない（毎フェーズで再入力）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637139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DXパッケージ：既存ツールですぐ始められること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slides/assets/mal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990600"/>
            <a:ext cx="85496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新しいものを開発するのではなく、既にある良いツールを組み合わせる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406426"/>
            <a:ext cx="85496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地場建設会社がすぐに導入できる、実績豊富なツールをパッケージで提案します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742926"/>
          <a:ext cx="8382000" cy="914400"/>
        </p:xfrm>
        <a:graphic>
          <a:graphicData uri="http://schemas.openxmlformats.org/drawingml/2006/table">
            <a:tbl>
              <a:tblPr/>
              <a:tblGrid>
                <a:gridCol w="1508671"/>
                <a:gridCol w="2682180"/>
                <a:gridCol w="1508671"/>
                <a:gridCol w="2682478"/>
              </a:tblGrid>
              <a:tr h="361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カテゴリ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推奨ツール候補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月額目安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用途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</a:tr>
              <a:tr h="3411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チャット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LINE WORKS / Microsoft Teams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 500〜800円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現場⇔事務所⇔自治体の日常連絡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</a:tr>
              <a:tr h="345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クラウドストレージ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Google Workspace / Microsoft 365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 800〜1,500円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一般文書・写真の共有保管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写真アプリ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蔵衛門 / 写真小町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 880〜1,200円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工事写真の撮影・整理・台帳生成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</a:tr>
              <a:tr h="345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AI橋梁点検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ひびみっけ（富士フイルム）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月数万円〜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スマホ撮影＋AIでひび割れ自動検出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4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遠隔臨場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Safie Pocket / iSPEC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1台 月5,000〜10,000円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段階確認・遠隔確認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</a:tr>
              <a:tr h="345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電子契約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クラウドサイン / GMOサイン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1社 月10,000円〜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契約書・請求書・発注書の電子化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GNSS/RTK測量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ジェノバVRS 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月3〜15万円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i-Construction対応の測量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346721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CiviLink が「横串」になる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slides/assets/mal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990600"/>
            <a:ext cx="85496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ドキュメント管理ややり取りの一元化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431875"/>
            <a:ext cx="8382000" cy="939552"/>
          </a:xfrm>
          <a:prstGeom prst="rect">
            <a:avLst/>
          </a:prstGeom>
          <a:solidFill>
            <a:srgbClr val="3C3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56159" y="1609576"/>
            <a:ext cx="80316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「ばらばらのツールを束ねて、図面と書類のやり取りをひとつの場所に」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56159" y="1984177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EACE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各ツールの良さはそのまま活かしつつ、CiviLinkが図面起点でデータを束ねる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1000" y="2549128"/>
            <a:ext cx="2692301" cy="2365772"/>
          </a:xfrm>
          <a:prstGeom prst="rect">
            <a:avLst/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81000" y="2577703"/>
            <a:ext cx="2692301" cy="0"/>
          </a:xfrm>
          <a:prstGeom prst="line">
            <a:avLst/>
          </a:prstGeom>
          <a:noFill/>
          <a:ln w="57150">
            <a:solidFill>
              <a:srgbClr val="C270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8701" y="2783979"/>
            <a:ext cx="23836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58701" y="3291929"/>
            <a:ext cx="23836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探す時間をゼロにする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8701" y="3650605"/>
            <a:ext cx="2383637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図面・書類・写真・指摘・承認履歴が全て図面に紐付いて一元管理。「あの図面どこ？」「あの指摘どうなった？」がワンクリック。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5701" y="2549128"/>
            <a:ext cx="2692450" cy="2365772"/>
          </a:xfrm>
          <a:prstGeom prst="rect">
            <a:avLst/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225701" y="2577703"/>
            <a:ext cx="2692450" cy="0"/>
          </a:xfrm>
          <a:prstGeom prst="line">
            <a:avLst/>
          </a:prstGeom>
          <a:noFill/>
          <a:ln w="57150">
            <a:solidFill>
              <a:srgbClr val="C270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03402" y="2783979"/>
            <a:ext cx="238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3403402" y="3291929"/>
            <a:ext cx="23837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承認待ちをなくす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403402" y="3650605"/>
            <a:ext cx="2383789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自治体監督員と施工会社の照査・承認をCiviLink上でリアルタイム化。紙・FAX・メール往復、押印待ちを排除。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70550" y="2549128"/>
            <a:ext cx="2692450" cy="2365772"/>
          </a:xfrm>
          <a:prstGeom prst="rect">
            <a:avLst/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6070550" y="2577703"/>
            <a:ext cx="2692450" cy="0"/>
          </a:xfrm>
          <a:prstGeom prst="line">
            <a:avLst/>
          </a:prstGeom>
          <a:noFill/>
          <a:ln w="57150">
            <a:solidFill>
              <a:srgbClr val="C270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48251" y="2783979"/>
            <a:ext cx="23837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6248251" y="3291929"/>
            <a:ext cx="23837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記録が勝手に残る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248251" y="3650605"/>
            <a:ext cx="2383789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照査コメント・承認履歴・図面バージョンが自動で監査証跡として蓄積。完成図書・電子納品のベースが施工中に出来上がる。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417948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調査・設計・施工 DXマトリクス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slides/assets/mal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7450" y="939701"/>
            <a:ext cx="867928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各フェーズで「既存ツール」と「CiviLinkの役割」を一覧化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7450" y="1298377"/>
          <a:ext cx="8509099" cy="914400"/>
        </p:xfrm>
        <a:graphic>
          <a:graphicData uri="http://schemas.openxmlformats.org/drawingml/2006/table">
            <a:tbl>
              <a:tblPr/>
              <a:tblGrid>
                <a:gridCol w="935980"/>
                <a:gridCol w="1871960"/>
                <a:gridCol w="2127200"/>
                <a:gridCol w="3573959"/>
              </a:tblGrid>
              <a:tr h="3333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フェーズ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DX対象業務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既存ツール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CiviLinkの役割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</a:tr>
              <a:tr h="663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 調査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（点検）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近接目視点検、損傷記録、点検調書作成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ひびみっけ（AI損傷検出）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ドローン外注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蔵衛門（写真管理）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点検写真・損傷図を橋梁図面に紐付け一元管理／現場タブレットで図面+過去履歴を即時閲覧／損傷箇所を図面上にマーキング・コメント／自治体担当者と直接共有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CED0"/>
                    </a:solidFill>
                  </a:tcPr>
                </a:tc>
              </a:tr>
              <a:tr h="6686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② 設計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（補修設計）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補修設計図面の照査、数量計算書との整合、設計変更管理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CADツール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クラウドストレージ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デジタル照査・指摘管理（赤黄チェックの代替）／図面バージョン管理・差分可視化／設計変更の承認ワークフロー／図面⇔数量整合チェック（将来AI）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CED0"/>
                    </a:solidFill>
                  </a:tcPr>
                </a:tc>
              </a:tr>
              <a:tr h="8376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 施工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（補修工事）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施工計画書、工事打合簿、段階確認、材料承認、出来形管理、工事写真、電子納品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LINE WORKS（チャット）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蔵衛門（工事写真）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Safie（遠隔臨場）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クラウドサイン（契約）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工事打合簿のデジタル化（図面上のコメント＋承認）／段階確認の写真・図面紐付け／材料承認ワークフロー／出来形管理値の規格値チェック（将来AI）／電子納品フォルダの自動構成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CED0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17450" y="3908227"/>
            <a:ext cx="867928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spcBef>
                <a:spcPts val="800"/>
              </a:spcBef>
              <a:buNone/>
            </a:pPr>
            <a:r>
              <a:rPr lang="en-US" sz="95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横串の価値</a:t>
            </a:r>
            <a:pPr algn="l" indent="0" marL="0">
              <a:lnSpc>
                <a:spcPts val="1425"/>
              </a:lnSpc>
              <a:spcBef>
                <a:spcPts val="800"/>
              </a:spcBef>
              <a:buNone/>
            </a:pPr>
            <a:r>
              <a:rPr lang="en-US" sz="95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 調査の損傷データ → 設計の入力 → 施工の作業基準、というデータ受け渡しが現状はExcel・メール・紙で分断。CiviLinkが図面ベースで集約することで「データが流れる」維持管理サイクルを実現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46069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POC計画：佐賀市で何を実証するか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slides/assets/mal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939701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包括委託開始（2027/4）までの約11ヶ月間で実証する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81000" y="1569839"/>
            <a:ext cx="4102150" cy="0"/>
          </a:xfrm>
          <a:prstGeom prst="line">
            <a:avLst/>
          </a:prstGeom>
          <a:noFill/>
          <a:ln w="9525">
            <a:solidFill>
              <a:srgbClr val="C270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1000" y="1298377"/>
            <a:ext cx="4184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POCスコープ案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650802"/>
          <a:ext cx="4102150" cy="914400"/>
        </p:xfrm>
        <a:graphic>
          <a:graphicData uri="http://schemas.openxmlformats.org/drawingml/2006/table">
            <a:tbl>
              <a:tblPr/>
              <a:tblGrid>
                <a:gridCol w="1558677"/>
                <a:gridCol w="2543473"/>
              </a:tblGrid>
              <a:tr h="2872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C38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Cランク以下の地場建設会社 1〜2社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C38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対象橋梁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補修工事予定の橋梁 数橋（市側で選定）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9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C38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対象業務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橋梁の点検 → 補修設計 → 補修工事の一気通貫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3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C38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導入ツール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写真アプリ + チャット + AI橋梁点検 + CiviLink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9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C38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資金源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マルメ無償／補助金活用／伊藤忠出資 のいずれか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60850" y="1569839"/>
            <a:ext cx="4102150" cy="0"/>
          </a:xfrm>
          <a:prstGeom prst="line">
            <a:avLst/>
          </a:prstGeom>
          <a:noFill/>
          <a:ln w="9525">
            <a:solidFill>
              <a:srgbClr val="C2706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60850" y="1298377"/>
            <a:ext cx="4184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想定KPI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0850" y="1650802"/>
          <a:ext cx="4102150" cy="914400"/>
        </p:xfrm>
        <a:graphic>
          <a:graphicData uri="http://schemas.openxmlformats.org/drawingml/2006/table">
            <a:tbl>
              <a:tblPr/>
              <a:tblGrid>
                <a:gridCol w="1558677"/>
                <a:gridCol w="2543473"/>
              </a:tblGrid>
              <a:tr h="28723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C38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点検効率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1橋あたり調書作成時間 50%削減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C38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設計効率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照査やり取り日数 30%削減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C38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施工効率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打合簿の往復時間 70%削減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C38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残業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月20時間削減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0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3C383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自治体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監督員のチェック対応時間 30%削減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t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381000" y="3733056"/>
            <a:ext cx="8382000" cy="1162794"/>
          </a:xfrm>
          <a:prstGeom prst="rect">
            <a:avLst/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58701" y="3834557"/>
            <a:ext cx="818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段階的な実証スケジュール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58701" y="4094857"/>
            <a:ext cx="8026598" cy="69949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378"/>
              </a:lnSpc>
              <a:buSzPct val="100000"/>
              <a:buChar char="•"/>
            </a:pPr>
            <a:r>
              <a:rPr lang="en-US" sz="95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2026年5〜6月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：既存ツールパッケージの導入支援（チャット・写真・クラウド）</a:t>
            </a:r>
            <a:endParaRPr lang="en-US" sz="950" dirty="0"/>
          </a:p>
          <a:p>
            <a:pPr algn="l" marL="101600" indent="-101600">
              <a:lnSpc>
                <a:spcPts val="1378"/>
              </a:lnSpc>
              <a:buSzPct val="100000"/>
              <a:buChar char="•"/>
            </a:pPr>
            <a:r>
              <a:rPr lang="en-US" sz="95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2026年7〜9月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：橋梁点検フェーズでCiviLink活用（損傷記録の図面紐付け）</a:t>
            </a:r>
            <a:endParaRPr lang="en-US" sz="950" dirty="0"/>
          </a:p>
          <a:p>
            <a:pPr algn="l" marL="101600" indent="-101600">
              <a:lnSpc>
                <a:spcPts val="1378"/>
              </a:lnSpc>
              <a:buSzPct val="100000"/>
              <a:buChar char="•"/>
            </a:pPr>
            <a:r>
              <a:rPr lang="en-US" sz="95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2026年10〜12月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：補修設計フェーズで照査ワークフロー実証</a:t>
            </a:r>
            <a:endParaRPr lang="en-US" sz="950" dirty="0"/>
          </a:p>
          <a:p>
            <a:pPr algn="l" marL="101600" indent="-101600">
              <a:lnSpc>
                <a:spcPts val="1378"/>
              </a:lnSpc>
              <a:buSzPct val="100000"/>
              <a:buChar char="•"/>
            </a:pPr>
            <a:r>
              <a:rPr lang="en-US" sz="95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2027年1〜3月</a:t>
            </a:r>
            <a:pPr algn="l" indent="0" marL="0">
              <a:lnSpc>
                <a:spcPts val="1378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：補修工事フェーズで打合簿・段階確認のデジタル化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568204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投資とリターン：補助金で実質負担を最小化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slides/assets/mal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939701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活用可能な補助金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298377"/>
          <a:ext cx="8382000" cy="914400"/>
        </p:xfrm>
        <a:graphic>
          <a:graphicData uri="http://schemas.openxmlformats.org/drawingml/2006/table">
            <a:tbl>
              <a:tblPr/>
              <a:tblGrid>
                <a:gridCol w="2933700"/>
                <a:gridCol w="1257300"/>
                <a:gridCol w="1843980"/>
                <a:gridCol w="2347020"/>
              </a:tblGrid>
              <a:tr h="3619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補助金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補助率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上限額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838"/>
                    </a:solidFill>
                  </a:tcPr>
                </a:tc>
              </a:tr>
              <a:tr h="550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佐賀県建設DX加速化事業費補助金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2/3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ICT建機600万 / 機器300万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県内建設業者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</a:tr>
              <a:tr h="345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佐賀市DX推進支援事業補助金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市内中小企業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デジタル化・AI導入補助金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1/2〜4/5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最大450万円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クラウド利用料も対象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0"/>
                    </a:solidFill>
                  </a:tcPr>
                </a:tc>
              </a:tr>
              <a:tr h="345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706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ものづくり補助金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1/2〜2/3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最大750〜1,250万円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ICT設備（ドローン等）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81000" y="3405783"/>
            <a:ext cx="8382000" cy="1066502"/>
          </a:xfrm>
          <a:prstGeom prst="rect">
            <a:avLst/>
          </a:prstGeom>
          <a:solidFill>
            <a:srgbClr val="F5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404813" y="3405783"/>
            <a:ext cx="0" cy="1066502"/>
          </a:xfrm>
          <a:prstGeom prst="line">
            <a:avLst/>
          </a:prstGeom>
          <a:noFill/>
          <a:ln w="47625">
            <a:solidFill>
              <a:srgbClr val="C2706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6326" y="3532733"/>
            <a:ext cx="81385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活用シミュレーション例：パッケージB（点検・測量強化）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06326" y="3837533"/>
            <a:ext cx="19374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初期投資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06326" y="4062859"/>
            <a:ext cx="193748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380 万円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632770" y="3837533"/>
            <a:ext cx="19376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佐賀県DX補助金（2/3）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632770" y="4062859"/>
            <a:ext cx="19376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253 万円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59362" y="3837533"/>
            <a:ext cx="19374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自己負担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59362" y="4062859"/>
            <a:ext cx="193748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127 万円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85806" y="3837533"/>
            <a:ext cx="19374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i-Con受注力UPで早期回収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685806" y="4062859"/>
            <a:ext cx="193748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2年以内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47713"/>
            <a:ext cx="9144000" cy="0"/>
          </a:xfrm>
          <a:prstGeom prst="line">
            <a:avLst/>
          </a:prstGeom>
          <a:noFill/>
          <a:ln w="28575">
            <a:solidFill>
              <a:srgbClr val="C27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2400"/>
            <a:ext cx="313461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将来展望と次のステップ</a:t>
            </a:r>
            <a:endParaRPr lang="en-US" sz="2200" dirty="0"/>
          </a:p>
        </p:txBody>
      </p:sp>
      <p:pic>
        <p:nvPicPr>
          <p:cNvPr id="5" name="Image 0" descr="/Users/nodatoshio/Documents/contextAI/customers/municipal/materials/slides/assets/malm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895" y="188863"/>
            <a:ext cx="1701105" cy="355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81000" y="939701"/>
            <a:ext cx="854964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POCで蓄積したデータから、AI機能とFDE伴走で業務をさらに自動化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81000" y="1569839"/>
            <a:ext cx="4102150" cy="0"/>
          </a:xfrm>
          <a:prstGeom prst="line">
            <a:avLst/>
          </a:prstGeom>
          <a:noFill/>
          <a:ln w="9525">
            <a:solidFill>
              <a:srgbClr val="C270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1000" y="1298377"/>
            <a:ext cx="4184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2：AI業務代行（中長期）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1000" y="1676102"/>
            <a:ext cx="4102150" cy="15109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AI損傷検出</a:t>
            </a:r>
            <a:pPr algn="l" indent="0" marL="0">
              <a:lnSpc>
                <a:spcPts val="165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（CiviLink連携）：点検写真からひび割れ・剥離を自動検出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規格値チェック</a:t>
            </a:r>
            <a:pPr algn="l" indent="0" marL="0">
              <a:lnSpc>
                <a:spcPts val="165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：測定値を施工管理基準と自動照合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図面⇔数量計算書の整合チェック</a:t>
            </a:r>
            <a:pPr algn="l" indent="0" marL="0">
              <a:lnSpc>
                <a:spcPts val="165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：AI＋OCRで自動対比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共通仕様書RAGアシスタント</a:t>
            </a:r>
            <a:pPr algn="l" indent="0" marL="0">
              <a:lnSpc>
                <a:spcPts val="165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：基準適合を根拠付きで回答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積算ミス検知</a:t>
            </a:r>
            <a:pPr algn="l" indent="0" marL="0">
              <a:lnSpc>
                <a:spcPts val="165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：桁違いを自動検出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0850" y="1569839"/>
            <a:ext cx="4102150" cy="0"/>
          </a:xfrm>
          <a:prstGeom prst="line">
            <a:avLst/>
          </a:prstGeom>
          <a:noFill/>
          <a:ln w="9525">
            <a:solidFill>
              <a:srgbClr val="C270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0850" y="1298377"/>
            <a:ext cx="41841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Layer 3：FDE伴走（ヒト軸）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0850" y="1676102"/>
            <a:ext cx="4102150" cy="172045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マルメのエンジニアが現場に入り</a:t>
            </a:r>
            <a:pPr algn="l" indent="0" marL="0">
              <a:lnSpc>
                <a:spcPts val="165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、AI定着・カスタマイズ・効果測定を伴走支援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地場建設会社のIT人材不在問題</a:t>
            </a:r>
            <a:pPr algn="l" indent="0" marL="0">
              <a:lnSpc>
                <a:spcPts val="165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を外部リソースで補完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POC期間中の蓄積データは</a:t>
            </a:r>
            <a:pPr algn="l" indent="0" marL="0">
              <a:lnSpc>
                <a:spcPts val="1650"/>
              </a:lnSpc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佐賀市の橋梁維持管理ナレッジ資産</a:t>
            </a:r>
            <a:pPr algn="l" indent="0" marL="0">
              <a:lnSpc>
                <a:spcPts val="165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ベテラン技術者の判断パターンを学習データ化</a:t>
            </a:r>
            <a:endParaRPr lang="en-US" sz="1100" dirty="0"/>
          </a:p>
          <a:p>
            <a:pPr algn="l" marL="101600" indent="-101600">
              <a:lnSpc>
                <a:spcPts val="165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群マネ（地域インフラ群再生戦略マネジメント）への展開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81000" y="3747046"/>
            <a:ext cx="8382000" cy="1218754"/>
          </a:xfrm>
          <a:prstGeom prst="rect">
            <a:avLst/>
          </a:prstGeom>
          <a:solidFill>
            <a:srgbClr val="3C3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58701" y="3873996"/>
            <a:ext cx="81871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EACED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58701" y="4134296"/>
            <a:ext cx="8026598" cy="67925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5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本日（4/20）：佐賀市デジタル推進課への正式紹介（伊藤忠経由）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5月：POC対象建設会社・対象橋梁の選定（市側と協議）</a:t>
            </a:r>
            <a:endParaRPr lang="en-US" sz="1100" dirty="0"/>
          </a:p>
          <a:p>
            <a:pPr algn="l" marL="114300" indent="-114300">
              <a:lnSpc>
                <a:spcPts val="165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6月：POC計画の詳細化（資金源・KPI・実施スケジュール）／パッケージツール導入支援開始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odatoshio/Documents/contextAI/customers/municipal/materials/slides/assets/malme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99" y="253901"/>
            <a:ext cx="1015901" cy="2122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3936" y="1015901"/>
            <a:ext cx="5596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次世代の橋梁維持管理を、</a:t>
            </a:r>
            <a:endParaRPr lang="en-US" sz="3600" dirty="0"/>
          </a:p>
          <a:p>
            <a:pPr algn="ctr"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佐賀市から。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56159" y="2565202"/>
            <a:ext cx="8031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800" b="1" dirty="0">
                <a:solidFill>
                  <a:srgbClr val="C27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マルメは伊藤忠商事のDXパートナーとして、佐賀市の包括委託を伴走します —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990134" y="3682752"/>
            <a:ext cx="11635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C38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株式会社マルメ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369557" y="4031903"/>
            <a:ext cx="24047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〒XXX-XXXX 東京都XXX区XXX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36835" y="4381054"/>
            <a:ext cx="36701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CiviLink事業部 / customer-success@malme.co.jp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橋梁の調査・設計・施工 DX導入提案</dc:title>
  <dc:subject>佐賀市 / 地元建設会社向け</dc:subject>
  <dc:creator>Malme</dc:creator>
  <cp:lastModifiedBy>Malme</cp:lastModifiedBy>
  <cp:revision>1</cp:revision>
  <dcterms:created xsi:type="dcterms:W3CDTF">2026-04-13T13:59:15Z</dcterms:created>
  <dcterms:modified xsi:type="dcterms:W3CDTF">2026-04-13T13:59:15Z</dcterms:modified>
</cp:coreProperties>
</file>